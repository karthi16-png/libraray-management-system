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VELLORE INSTITUTE OF TECHNOLOGY (VIT), CHENNAI  •  SCHOOL OF COMPUTER SCIENCE AND ENGINEERING (SCOPE)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107286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01800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547"/>
                </a:solidFill>
                <a:latin typeface="Segoe UI"/>
              </a:defRPr>
            </a:pPr>
            <a:r>
              <a:t>VITCC ENTERPRISE LIBRARY MANAGEMENT SYSTEM</a:t>
            </a:r>
          </a:p>
          <a:p>
            <a:pPr>
              <a:spcBef>
                <a:spcPts val="600"/>
              </a:spcBef>
              <a:defRPr sz="1300" b="1">
                <a:solidFill>
                  <a:srgbClr val="1E40AF"/>
                </a:solidFill>
                <a:latin typeface="Segoe UI"/>
              </a:defRPr>
            </a:pPr>
            <a:r>
              <a:t>Dual-Paradigm Relational (Oracle 21c) and Graph (Neo4j AuraDB) Database Application Project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Course Project Assessment (DA-3) covering Schema Normalization, PL/SQL Automation, Graph Traversal &amp; Role-Based Access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547"/>
                </a:solidFill>
                <a:latin typeface="Segoe UI"/>
              </a:defRPr>
            </a:pPr>
            <a:r>
              <a:t>COURSE &amp; FACULTY DETAILS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1E293B"/>
                </a:solidFill>
              </a:rPr>
              <a:t>Course Code: </a:t>
            </a:r>
            <a:r>
              <a:rPr sz="1050">
                <a:solidFill>
                  <a:srgbClr val="475569"/>
                </a:solidFill>
              </a:rPr>
              <a:t>BACSE202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1E293B"/>
                </a:solidFill>
              </a:rPr>
              <a:t>Course Name: </a:t>
            </a:r>
            <a:r>
              <a:rPr sz="1050">
                <a:solidFill>
                  <a:srgbClr val="475569"/>
                </a:solidFill>
              </a:rPr>
              <a:t>Database Systems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1E293B"/>
                </a:solidFill>
              </a:rPr>
              <a:t>Class Slot: </a:t>
            </a:r>
            <a:r>
              <a:rPr sz="1050">
                <a:solidFill>
                  <a:srgbClr val="1E40AF"/>
                </a:solidFill>
              </a:rPr>
              <a:t>F1+TF1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1E293B"/>
                </a:solidFill>
              </a:rPr>
              <a:t>Faculty Guide: </a:t>
            </a:r>
            <a:r>
              <a:rPr sz="1050">
                <a:solidFill>
                  <a:srgbClr val="475569"/>
                </a:solidFill>
              </a:rPr>
              <a:t>Dr. R. Priyadarshini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1E293B"/>
                </a:solidFill>
              </a:rPr>
              <a:t>Department: </a:t>
            </a:r>
            <a:r>
              <a:rPr sz="1050">
                <a:solidFill>
                  <a:srgbClr val="475569"/>
                </a:solidFill>
              </a:rPr>
              <a:t>Department of Computer Science &amp; Engineering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1E293B"/>
                </a:solidFill>
              </a:rPr>
              <a:t>Institution: </a:t>
            </a:r>
            <a:r>
              <a:rPr sz="1050">
                <a:solidFill>
                  <a:srgbClr val="475569"/>
                </a:solidFill>
              </a:rPr>
              <a:t>VIT Chennai Campus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42255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474720"/>
            <a:ext cx="4693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547"/>
                </a:solidFill>
                <a:latin typeface="Segoe UI"/>
              </a:defRPr>
            </a:pPr>
            <a:r>
              <a:t>SUBMITTED BY (PROJECT TEAM)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KARTHIK VALLIAPPAN C  </a:t>
            </a:r>
            <a:r>
              <a:rPr b="1" sz="1050">
                <a:solidFill>
                  <a:srgbClr val="1E40AF"/>
                </a:solidFill>
              </a:rPr>
              <a:t>(25BAI1051)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System Architecture, Neo4j Graph Model &amp; Web Controllers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NITHIN RANGASWAMY  </a:t>
            </a:r>
            <a:r>
              <a:rPr b="1" sz="1050">
                <a:solidFill>
                  <a:srgbClr val="1E40AF"/>
                </a:solidFill>
              </a:rPr>
              <a:t>(25BAI1210)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Relational Schema, Oracle DDL/DML, Constraints &amp; Auditing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NATRAJ  </a:t>
            </a:r>
            <a:r>
              <a:rPr b="1" sz="1050">
                <a:solidFill>
                  <a:srgbClr val="1E40AF"/>
                </a:solidFill>
              </a:rPr>
              <a:t>(25BAI1079)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PL/SQL Programming, Stored Procedures, Functions &amp; Triggers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1: PROJECT INTRODUCTION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Presentation Roadmap &amp; Topics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78608" cy="6400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25786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00">
                <a:solidFill>
                  <a:srgbClr val="BFDBFE"/>
                </a:solidFill>
              </a:defRPr>
            </a:pPr>
            <a:r>
              <a:t>SECTION 1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Introduction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30428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Problem Statement &amp; Objectives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Proposed Dual-Database Solution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4-Tier Architecture &amp; Tech Stack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Core Modules &amp; Data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37160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371600"/>
            <a:ext cx="2578608" cy="6400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44752"/>
            <a:ext cx="25786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00">
                <a:solidFill>
                  <a:srgbClr val="BFDBFE"/>
                </a:solidFill>
              </a:defRPr>
            </a:pPr>
            <a:r>
              <a:t>SECTION 2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Database Design &amp;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148840"/>
            <a:ext cx="230428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Entity-Relationship (ER) Diagram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Relational Mapping &amp; Normalization (BCNF)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Table DDL &amp; Integrity Constraints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Sample Records &amp; Referential Integrity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37160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371600"/>
            <a:ext cx="2578608" cy="6400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444752"/>
            <a:ext cx="25786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00">
                <a:solidFill>
                  <a:srgbClr val="BFDBFE"/>
                </a:solidFill>
              </a:defRPr>
            </a:pPr>
            <a:r>
              <a:t>SECTION 3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SQL &amp; Database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148840"/>
            <a:ext cx="230428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Feature-to-Query Mapping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DDL, DML &amp; Role-Based DCL Security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Analytical Subqueries &amp; Complex Joins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PL/SQL Triggers, Cursors &amp; Procedures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371600"/>
            <a:ext cx="2578608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371600"/>
            <a:ext cx="2578608" cy="6400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1444752"/>
            <a:ext cx="25786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00">
                <a:solidFill>
                  <a:srgbClr val="BFDBFE"/>
                </a:solidFill>
              </a:defRPr>
            </a:pPr>
            <a:r>
              <a:t>SECTION 4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Implementation &amp;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48840"/>
            <a:ext cx="230428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Application Workflow &amp; Code Structure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Working Application Screenshots (8 views)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Role-Based Access Control &amp; Innovations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Build Steps, GitHub Repository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1: PROJECT INTRODUCTION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Problem Statement, Objectives &amp; Solution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Traditional relational library management systems struggle with recursive multi-table joins when discovering multi-degree book connections.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Students lack structured academic reading roadmaps showing prerequisite foundational books before advanced texts.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Manual circulation desk verification often fails to enforce patron loan limits (3 books) and calculate overdue penalties reliably.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Borrowing histories are exposed across patrons without proper role-based privacy masking.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PROPOSED SOLUTION &amp; SCOPE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Phased Database Migration: Phase 1 utilized Oracle 21c for strict relational modeling, while Phase 2 (DA-3) completely migrated the backend to Neo4j AuraDB to unlock advanced graph traversals and recommendations.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Role-Based Access Control (RBAC): Provides four distinct experiences for Admin, Librarian, Staff (Faculty), and Students.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Automated Circulation Rules: Real-time 3-book borrowing quota enforcement and daily Rs. 10/day overdue fine calculation.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Interactive Graph Capabilities: Real-time knowledge graph visualizer, shortest-path degrees of separation, and DAG prerequisite learning tracks.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TECHNOLOGY STACK SUMMARY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Web Framework
</a:t>
            </a:r>
            <a:r>
              <a:rPr sz="950">
                <a:solidFill>
                  <a:srgbClr val="475569"/>
                </a:solidFill>
              </a:rPr>
              <a:t>Python 3.12, Flask 3.1, Flask-Session, Flask-WTF CSRF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Relational Engine
</a:t>
            </a:r>
            <a:r>
              <a:rPr sz="950">
                <a:solidFill>
                  <a:srgbClr val="475569"/>
                </a:solidFill>
              </a:rPr>
              <a:t>Oracle Database 21c (Tables, Constraints, PL/SQL)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Graph Engine
</a:t>
            </a:r>
            <a:r>
              <a:rPr sz="950">
                <a:solidFill>
                  <a:srgbClr val="475569"/>
                </a:solidFill>
              </a:rPr>
              <a:t>Neo4j AuraDB v5+ (Cypher, Graph Traversal Algorithms)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Frontend UI
</a:t>
            </a:r>
            <a:r>
              <a:rPr sz="950">
                <a:solidFill>
                  <a:srgbClr val="475569"/>
                </a:solidFill>
              </a:rPr>
              <a:t>HTML5, Vanilla CSS, Plus Jakarta Sans, JetBrains Mono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Graph Canvas
</a:t>
            </a:r>
            <a:r>
              <a:rPr sz="950">
                <a:solidFill>
                  <a:srgbClr val="475569"/>
                </a:solidFill>
              </a:rPr>
              <a:t>Vis.js Network v9.1.2 (Interactive Physics Rendering)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Verification
</a:t>
            </a:r>
            <a:r>
              <a:rPr sz="950">
                <a:solidFill>
                  <a:srgbClr val="475569"/>
                </a:solidFill>
              </a:rPr>
              <a:t>7 End-to-End Automated Verification Suites (100% Pass)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1: PROJECT INTRODUCTION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Overall System Architecture &amp; Multi-Tier Data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44752"/>
            <a:ext cx="32918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Tier 1: Client &amp; Presentation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Web Browser UI &amp; Interactive Graph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444752"/>
            <a:ext cx="6858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• Responsive Web Portal implemented in HTML5 and clean Vanilla CSS (Modern Slate Theme).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Vis.js physics-driven canvas rendering interactive knowledge graphs and prerequisite roadmaps.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Role-specific UI views tailored for Admin, Librarian, Faculty/Staff, and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79192"/>
            <a:ext cx="32918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Tier 2: Application Controller &amp; Security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Flask WSGI Middleware &amp; RBAC 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79192"/>
            <a:ext cx="6858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• Central request router managing authentication, catalog browsing, loan processing, and graph APIs.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Flask-WTF CSRF token validation on all mutable operations (loan issue, returns, password updates).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10-minute idle session timeout with automatic server-side cleanup and institutional email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32918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Tier 3: Data Access &amp; Business Logic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Parameterized Database Drivers &amp; Controllers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913632"/>
            <a:ext cx="6858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• Neo4j Bolt Protocol (neo4j+s://) executing optimized Cypher shortestPath() and prerequisite queries.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Dynamic patron privacy masking to anonymize fellow student loan requests on shared canvases.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48072"/>
            <a:ext cx="32918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Tier 4: Enterprise Storage Tier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Phase 1 (Legacy Oracle) &amp; Phase 2 (Live Neo4j Graph)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48072"/>
            <a:ext cx="6858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• Oracle 21c Database: 10 normalized tables in BCNF, foreign key cascades, triggers, and views.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Neo4j AuraDB: 9 node entity types, 7 relationship edges, and 12 schema uniqueness constraints.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Automated quota enforcement, copy status synchronization, and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2: DATABASE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Conceptual Data Model — Entity-Relationship (ER)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1301975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943600" cy="3343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9788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475569"/>
                </a:solidFill>
              </a:defRPr>
            </a:pPr>
            <a:r>
              <a:t>Figure: Conceptual Entity-Relationship (ER) Diagram of the Library Management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3962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ENTITY &amp; CARDINALITY MAPPING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1:N Publisher to Books
</a:t>
            </a:r>
            <a:r>
              <a:rPr sz="900">
                <a:solidFill>
                  <a:srgbClr val="475569"/>
                </a:solidFill>
              </a:rPr>
              <a:t>Each publisher publishes multiple titles; every book is linked to a single registered publisher.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M:N Books to Authors
</a:t>
            </a:r>
            <a:r>
              <a:rPr sz="900">
                <a:solidFill>
                  <a:srgbClr val="475569"/>
                </a:solidFill>
              </a:rPr>
              <a:t>A book may have co-authors, and authors write multiple books. Mapped into the BOOK_AUTHORS relationship table.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1:N Book to Copies
</a:t>
            </a:r>
            <a:r>
              <a:rPr sz="900">
                <a:solidFill>
                  <a:srgbClr val="475569"/>
                </a:solidFill>
              </a:rPr>
              <a:t>Separates abstract bibliographic titles from physical inventory tracking copies (status: Available, Borrowed, Reserved).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1:N User to Loans
</a:t>
            </a:r>
            <a:r>
              <a:rPr sz="900">
                <a:solidFill>
                  <a:srgbClr val="475569"/>
                </a:solidFill>
              </a:rPr>
              <a:t>Patrons record historical loans over time, strictly capped at 3 active concurrent borrowed books.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1:1 Loan to Fines
</a:t>
            </a:r>
            <a:r>
              <a:rPr sz="900">
                <a:solidFill>
                  <a:srgbClr val="475569"/>
                </a:solidFill>
              </a:rPr>
              <a:t>Overdue book returns automatically generate a financial disciplinary record (Rs. 10 per overdue day).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Relational Normalization
</a:t>
            </a:r>
            <a:r>
              <a:rPr sz="900">
                <a:solidFill>
                  <a:srgbClr val="475569"/>
                </a:solidFill>
              </a:rPr>
              <a:t>Conceptual Member, Employee, and Admin roles are unified into the USERS entity with Role-Based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2: DATABASE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Relational Schema &amp; Functional Dependency Normalization (BCNF)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400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RELATIONAL SCHEMA SPECIFICATIONS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CATEGORIES </a:t>
            </a:r>
            <a:r>
              <a:rPr sz="850">
                <a:solidFill>
                  <a:srgbClr val="1E293B"/>
                </a:solidFill>
                <a:latin typeface="Consolas"/>
              </a:rPr>
              <a:t>(category_id [PK], category_name, description)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PUBLISHERS </a:t>
            </a:r>
            <a:r>
              <a:rPr sz="850">
                <a:solidFill>
                  <a:srgbClr val="1E293B"/>
                </a:solidFill>
                <a:latin typeface="Consolas"/>
              </a:rPr>
              <a:t>(publisher_id [PK], name, address, phone, email)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AUTHORS </a:t>
            </a:r>
            <a:r>
              <a:rPr sz="850">
                <a:solidFill>
                  <a:srgbClr val="1E293B"/>
                </a:solidFill>
                <a:latin typeface="Consolas"/>
              </a:rPr>
              <a:t>(author_id [PK], first_name, last_name, bio)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BOOKS </a:t>
            </a:r>
            <a:r>
              <a:rPr sz="850">
                <a:solidFill>
                  <a:srgbClr val="1E293B"/>
                </a:solidFill>
                <a:latin typeface="Consolas"/>
              </a:rPr>
              <a:t>(book_id [PK], title, isbn, publication_year, category_id [FK], publisher_id [FK])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BOOK_AUTHORS </a:t>
            </a:r>
            <a:r>
              <a:rPr sz="850">
                <a:solidFill>
                  <a:srgbClr val="1E293B"/>
                </a:solidFill>
                <a:latin typeface="Consolas"/>
              </a:rPr>
              <a:t>(book_id [PK, FK], author_id [PK, FK])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BOOK_COPIES </a:t>
            </a:r>
            <a:r>
              <a:rPr sz="850">
                <a:solidFill>
                  <a:srgbClr val="1E293B"/>
                </a:solidFill>
                <a:latin typeface="Consolas"/>
              </a:rPr>
              <a:t>(copy_id [PK], book_id [FK], status, acquisition_date)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USERS </a:t>
            </a:r>
            <a:r>
              <a:rPr sz="850">
                <a:solidFill>
                  <a:srgbClr val="1E293B"/>
                </a:solidFill>
                <a:latin typeface="Consolas"/>
              </a:rPr>
              <a:t>(user_id [PK], username, password_hash, email, role, account_status)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LOANS </a:t>
            </a:r>
            <a:r>
              <a:rPr sz="850">
                <a:solidFill>
                  <a:srgbClr val="1E293B"/>
                </a:solidFill>
                <a:latin typeface="Consolas"/>
              </a:rPr>
              <a:t>(loan_id [PK], copy_id [FK], user_id [FK], issue_date, due_date, return_date, issued_by [FK])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LOAN_REQUESTS </a:t>
            </a:r>
            <a:r>
              <a:rPr sz="850">
                <a:solidFill>
                  <a:srgbClr val="1E293B"/>
                </a:solidFill>
                <a:latin typeface="Consolas"/>
              </a:rPr>
              <a:t>(request_id [PK], user_id [FK], book_id [FK], request_date, status, copy_id [FK])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40AF"/>
                </a:solidFill>
              </a:rPr>
              <a:t>FINES </a:t>
            </a:r>
            <a:r>
              <a:rPr sz="850">
                <a:solidFill>
                  <a:srgbClr val="1E293B"/>
                </a:solidFill>
                <a:latin typeface="Consolas"/>
              </a:rPr>
              <a:t>(fine_id [PK], loan_id [FK], fine_amount, payment_status, payment_date, collected_by [FK])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71600"/>
            <a:ext cx="414497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508760"/>
            <a:ext cx="3779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NORMALIZATION DECOMPOSITION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1NF (First Normal Form)
</a:t>
            </a:r>
            <a:r>
              <a:rPr sz="900">
                <a:solidFill>
                  <a:srgbClr val="475569"/>
                </a:solidFill>
              </a:rPr>
              <a:t>All table attributes contain atomic values. Repeated author and copy collections are separated into distinct tables.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2NF (Second Normal Form)
</a:t>
            </a:r>
            <a:r>
              <a:rPr sz="900">
                <a:solidFill>
                  <a:srgbClr val="475569"/>
                </a:solidFill>
              </a:rPr>
              <a:t>Eliminated all partial key dependencies. In BOOK_AUTHORS, the composite key {book_id, author_id} determines full relationship status.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3NF (Third Normal Form)
</a:t>
            </a:r>
            <a:r>
              <a:rPr sz="900">
                <a:solidFill>
                  <a:srgbClr val="475569"/>
                </a:solidFill>
              </a:rPr>
              <a:t>Eliminated all transitive functional dependencies (e.g., category_name is determined exclusively by category_id, not transitively by book_id).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BCNF (Boyce-Codd Normal Form)
</a:t>
            </a:r>
            <a:r>
              <a:rPr sz="900">
                <a:solidFill>
                  <a:srgbClr val="475569"/>
                </a:solidFill>
              </a:rPr>
              <a:t>Every determinant is a candidate key. Protects against update, insertion, and deletion anomalies across the loan lifecycle.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2: DATABASE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Table Creation &amp; Comprehensive Integrity Constraints (DDL)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-- Table Creation with Integrity Constraints (Oracle SQL)</a:t>
            </a:r>
            <a:br/>
            <a:r>
              <a:t>CREATE TABLE USERS (</a:t>
            </a:r>
            <a:br/>
            <a:r>
              <a:t>    user_id        NUMBER GENERATED BY DEFAULT AS IDENTITY PRIMARY KEY,</a:t>
            </a:r>
            <a:br/>
            <a:r>
              <a:t>    username       VARCHAR2(50) NOT NULL UNIQUE,</a:t>
            </a:r>
            <a:br/>
            <a:r>
              <a:t>    email          VARCHAR2(100) NOT NULL UNIQUE,</a:t>
            </a:r>
            <a:br/>
            <a:r>
              <a:t>    password_hash  VARCHAR2(255) NOT NULL,</a:t>
            </a:r>
            <a:br/>
            <a:r>
              <a:t>    role           VARCHAR2(20) DEFAULT 'Student' NOT NULL,</a:t>
            </a:r>
            <a:br/>
            <a:r>
              <a:t>    account_status VARCHAR2(20) DEFAULT 'Active' NOT NULL,</a:t>
            </a:r>
            <a:br/>
            <a:r>
              <a:t>    CONSTRAINT chk_user_role CHECK (role IN ('Admin', 'Librarian', 'Staff', 'Student')),</a:t>
            </a:r>
            <a:br/>
            <a:r>
              <a:t>    CONSTRAINT chk_user_status CHECK (account_status IN ('Active', 'Suspended'))</a:t>
            </a:r>
            <a:br/>
            <a:r>
              <a:t>);</a:t>
            </a:r>
            <a:br/>
            <a:br/>
            <a:r>
              <a:t>CREATE TABLE BOOK_COPIES (</a:t>
            </a:r>
            <a:br/>
            <a:r>
              <a:t>    copy_id NUMBER PRIMARY KEY,</a:t>
            </a:r>
            <a:br/>
            <a:r>
              <a:t>    book_id NUMBER NOT NULL REFERENCES BOOKS(book_id) ON DELETE CASCADE,</a:t>
            </a:r>
            <a:br/>
            <a:r>
              <a:t>    status  VARCHAR2(20) DEFAULT 'Available' NOT NULL,</a:t>
            </a:r>
            <a:br/>
            <a:r>
              <a:t>    CONSTRAINT chk_copy_status CHECK (status IN ('Available', 'Borrowed', 'Reserved', 'Maintenance'))</a:t>
            </a:r>
            <a:br/>
            <a:r>
              <a:t>);</a:t>
            </a:r>
            <a:br/>
            <a:br/>
            <a:r>
              <a:t>CREATE TABLE LOANS (</a:t>
            </a:r>
            <a:br/>
            <a:r>
              <a:t>    loan_id     NUMBER PRIMARY KEY,</a:t>
            </a:r>
            <a:br/>
            <a:r>
              <a:t>    copy_id     NUMBER NOT NULL REFERENCES BOOK_COPIES(copy_id),</a:t>
            </a:r>
            <a:br/>
            <a:r>
              <a:t>    user_id     NUMBER NOT NULL REFERENCES USERS(user_id) ON DELETE CASCADE,</a:t>
            </a:r>
            <a:br/>
            <a:r>
              <a:t>    issue_date  DATE DEFAULT SYSDATE NOT NULL,</a:t>
            </a:r>
            <a:br/>
            <a:r>
              <a:t>    due_date    DATE NOT NULL,</a:t>
            </a:r>
            <a:br/>
            <a:r>
              <a:t>    return_date DATE,</a:t>
            </a:r>
            <a:br/>
            <a:r>
              <a:t>    CONSTRAINT chk_loan_dates CHECK (due_date &gt;= issue_date)</a:t>
            </a:r>
            <a:br/>
            <a: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INTEGRITY CONSTRAINTS IMPLEMENTED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PRIMARY KEY Constraints
</a:t>
            </a:r>
            <a:r>
              <a:rPr sz="900">
                <a:solidFill>
                  <a:srgbClr val="475569"/>
                </a:solidFill>
              </a:rPr>
              <a:t>Enforces entity integrity (user_id, book_id, loan_id). Prohibits duplicate or NULL primary records.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FOREIGN KEY &amp; CASCADES
</a:t>
            </a:r>
            <a:r>
              <a:rPr sz="900">
                <a:solidFill>
                  <a:srgbClr val="475569"/>
                </a:solidFill>
              </a:rPr>
              <a:t>Maintains referential integrity. Removing a book cascades to dependent copies (ON DELETE CASCADE), preventing dangling references.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CHECK Constraints
</a:t>
            </a:r>
            <a:r>
              <a:rPr sz="900">
                <a:solidFill>
                  <a:srgbClr val="475569"/>
                </a:solidFill>
              </a:rPr>
              <a:t>chk_user_role restricts accounts to authorized roles; chk_copy_status ensures valid inventory states; chk_loan_dates guarantees due_date &gt;= issue_date.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UNIQUE Constraints
</a:t>
            </a:r>
            <a:r>
              <a:rPr sz="900">
                <a:solidFill>
                  <a:srgbClr val="475569"/>
                </a:solidFill>
              </a:rPr>
              <a:t>Prevents duplicate ISBN registrations, identical usernames, and duplicate institutional email addresses.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40AF"/>
                </a:solidFill>
              </a:rPr>
              <a:t>NOT NULL &amp; DEFAULT
</a:t>
            </a:r>
            <a:r>
              <a:rPr sz="900">
                <a:solidFill>
                  <a:srgbClr val="475569"/>
                </a:solidFill>
              </a:rPr>
              <a:t>Mandates critical metadata (password_hash, email) while initializing default statuses ('Available', 'Active', 'Unpaid').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2: DATABASE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Sample Data Records &amp; Referential Integrity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SAMPLE ENTITY RECORDS POPULATED IN DATABASE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783080"/>
          <a:ext cx="103628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2011680"/>
                <a:gridCol w="1645920"/>
                <a:gridCol w="1828800"/>
                <a:gridCol w="1584655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Identifier (PK)</a:t>
                      </a:r>
                    </a:p>
                  </a:txBody>
                  <a:tcPr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Attribute 1</a:t>
                      </a:r>
                    </a:p>
                  </a:txBody>
                  <a:tcPr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Attribute 2</a:t>
                      </a:r>
                    </a:p>
                  </a:txBody>
                  <a:tcPr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Status / Role</a:t>
                      </a:r>
                    </a:p>
                  </a:txBody>
                  <a:tcPr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Foreign Key Ref</a:t>
                      </a:r>
                    </a:p>
                  </a:txBody>
                  <a:tcPr>
                    <a:solidFill>
                      <a:srgbClr val="0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user_id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admin@vit.edu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Role: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Account: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BOOKS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book_id =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Clean Code: Agile Craft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ISBN: 978-0132350884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Pub Year: 2008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Category: CS (ID: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loan_id =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copy_id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user_id = 6 (student)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Issue: 2026-03-01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Due: 2026-03-15 (Overdue)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REFERENTIAL INTEGRITY ENFORCEMENT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Foreign Key Cascading: Deleting a category safely cascades to dependent book records or blocks deletion if active loans exist.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Copy Status Synchronization: Physical copies transition automatically to 'Borrowed' upon loan issue and 'Available' upon check-in.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Borrower Anonymization on Account Deletion: Historical loans retain record integrity (borrower_id = 0) to maintain statistical ledgers.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CONSTRAINT REJECTION TESTING (ERROR-PROOFING)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Duplicate ISBN Rejection: ORA-00001 unique constraint violation raised when attempting to re-register an existing ISBN.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Borrowing Quota Rejection: PL/SQL trigger and Flask controllers immediately reject a 4th concurrent loan request.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Disciplinary Fine Locking: Loan issuance is blocked when outstanding disciplinary fines exist on a patron's record.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SQL Queries Mapped to Application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Catalog &amp; Category Search (/catalog, /category/&lt;id&gt;)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SELECT b.book_id, b.title, b.isbn, b.publication_year, c.category_name,</a:t>
            </a:r>
            <a:br/>
            <a:r>
              <a:t>       COUNT(cp.copy_id) AS total_copies,</a:t>
            </a:r>
            <a:br/>
            <a:r>
              <a:t>       SUM(CASE WHEN cp.status = 'Available' THEN 1 ELSE 0 END) AS available_copies</a:t>
            </a:r>
            <a:br/>
            <a:r>
              <a:t>FROM BOOKS b</a:t>
            </a:r>
            <a:br/>
            <a:r>
              <a:t>JOIN CATEGORIES c ON b.category_id = c.category_id</a:t>
            </a:r>
            <a:br/>
            <a:r>
              <a:t>LEFT JOIN BOOK_COPIES cp ON b.book_id = cp.book_id</a:t>
            </a:r>
            <a:br/>
            <a:r>
              <a:t>WHERE LOWER(b.title) LIKE :query OR REPLACE(b.isbn, '-', '') LIKE :isbn_query</a:t>
            </a:r>
            <a:br/>
            <a:r>
              <a:t>GROUP BY b.book_id, b.title, b.isbn, b.publication_year, c.category_name;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Operational Purpose: Enables fast searching across titles, authors, and hyphenated/unhyphenated ISBNs with real-time copy availability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Issue Loan Transaction (/issue_loan)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-- Atomic Loan Creation and Copy Status Lock</a:t>
            </a:r>
            <a:br/>
            <a:r>
              <a:t>INSERT INTO LOANS (loan_id, copy_id, user_id, issue_date, due_date, issued_by)</a:t>
            </a:r>
            <a:br/>
            <a:r>
              <a:t>VALUES (seq_loan_id.NEXTVAL, :copy_id, :user_id, SYSDATE, SYSDATE + 14, :admin_id);</a:t>
            </a:r>
            <a:br/>
            <a:br/>
            <a:r>
              <a:t>UPDATE BOOK_COPIES</a:t>
            </a:r>
            <a:br/>
            <a:r>
              <a:t>SET status = 'Borrowed'</a:t>
            </a:r>
            <a:br/>
            <a:r>
              <a:t>WHERE copy_id = :copy_id;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Operational Purpose: Guarantees that a physical copy cannot be concurrently double-issued to another patron at the circulation desk.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DDL, DML, and Role-Based DCL Security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56432" cy="4114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3456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DDL (DATA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318211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CREATE TABLE / INDEX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CREATE TABLE LOAN_REQUESTS (</a:t>
            </a:r>
            <a:br/>
            <a:r>
              <a:t>  request_id NUMBER PRIMARY KEY,</a:t>
            </a:r>
            <a:br/>
            <a:r>
              <a:t>  user_id NUMBER REFERENCES USERS,</a:t>
            </a:r>
            <a:br/>
            <a:r>
              <a:t>  book_id NUMBER REFERENCES BOOKS,</a:t>
            </a:r>
            <a:br/>
            <a:r>
              <a:t>  status VARCHAR2(20) DEFAULT 'Pending'</a:t>
            </a:r>
            <a:br/>
            <a:r>
              <a:t>);</a:t>
            </a:r>
          </a:p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ALTER TABLE CONSTRAINT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ALTER TABLE FINES ADD CONSTRAINT chk_fine_amt</a:t>
            </a:r>
            <a:br/>
            <a:r>
              <a:t>CHECK (fine_amount &gt;= 0);</a:t>
            </a:r>
          </a:p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CREATE UNIQUE INDEX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CREATE UNIQUE INDEX idx_isbn ON BOOKS(isbn);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3456432" cy="4114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426464"/>
            <a:ext cx="3456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DML (DATA MANIPULATION)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74520"/>
            <a:ext cx="318211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INSERT DATA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INSERT INTO BOOK_COPIES (copy_id, book_id, status)</a:t>
            </a:r>
            <a:br/>
            <a:r>
              <a:t>VALUES (seq_copy.NEXTVAL, 2, 'Available');</a:t>
            </a:r>
          </a:p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UPDATE TRANSACTION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UPDATE FINES SET payment_status = 'Paid',</a:t>
            </a:r>
            <a:br/>
            <a:r>
              <a:t>payment_date = SYSDATE WHERE fine_id = :fid;</a:t>
            </a:r>
          </a:p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DELETE CONDITIONAL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DELETE FROM LOAN_REQUESTS</a:t>
            </a:r>
            <a:br/>
            <a:r>
              <a:t>WHERE status = 'Rejected' AND request_date &lt; SYSDATE-30;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7160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371600"/>
            <a:ext cx="3456432" cy="41148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1426464"/>
            <a:ext cx="3456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DCL (DATA CONTROL)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874520"/>
            <a:ext cx="318211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ROLE PROVISIONING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CREATE ROLE LIBRARIAN_ROLE;</a:t>
            </a:r>
            <a:br/>
            <a:r>
              <a:t>CREATE ROLE STUDENT_ROLE;</a:t>
            </a:r>
          </a:p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GRANT PRIVILEGES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GRANT SELECT, INSERT, UPDATE ON LOANS</a:t>
            </a:r>
            <a:br/>
            <a:r>
              <a:t>TO LIBRARIAN_ROLE;</a:t>
            </a:r>
            <a:br/>
            <a:r>
              <a:t>GRANT SELECT ON BOOKS TO STUDENT_ROLE;</a:t>
            </a:r>
          </a:p>
          <a:p>
            <a:pPr>
              <a:spcBef>
                <a:spcPts val="800"/>
              </a:spcBef>
              <a:defRPr b="1" sz="950">
                <a:solidFill>
                  <a:srgbClr val="1E40AF"/>
                </a:solidFill>
              </a:defRPr>
            </a:pPr>
            <a:r>
              <a:t>REVOKE RESTRICTIONS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onsolas"/>
              </a:defRPr>
            </a:pPr>
            <a:r>
              <a:t>REVOKE DELETE ON BOOKS FROM STUDENT_ROLE;</a:t>
            </a:r>
            <a:br/>
            <a:r>
              <a:t>REVOKE UPDATE ON USERS FROM LIBRARIAN_ROLE;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Single-Row, Multiple-Row &amp; Correlated Subqueries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103628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1. Single-Row Subquery (Scalar Comparison)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SELECT b.book_id, b.title, b.publication_year</a:t>
            </a:r>
            <a:br/>
            <a:r>
              <a:t>FROM BOOKS b</a:t>
            </a:r>
            <a:br/>
            <a:r>
              <a:t>WHERE b.publication_year &gt; (</a:t>
            </a:r>
            <a:br/>
            <a:r>
              <a:t>    SELECT AVG(publication_year)</a:t>
            </a:r>
            <a:br/>
            <a:r>
              <a:t>    FROM BOOKS</a:t>
            </a:r>
            <a:br/>
            <a:r>
              <a:t>    WHERE category_id = b.category_id</a:t>
            </a:r>
            <a:br/>
            <a:r>
              <a:t>);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Operational Analytics: Identifies books published more recently than the average publication vintage of their respective subject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9232"/>
            <a:ext cx="1072865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103628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2. Multiple-Row Subquery with IN Operator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SELECT u.user_id, u.username, u.email</a:t>
            </a:r>
            <a:br/>
            <a:r>
              <a:t>FROM USERS u</a:t>
            </a:r>
            <a:br/>
            <a:r>
              <a:t>WHERE u.user_id IN (</a:t>
            </a:r>
            <a:br/>
            <a:r>
              <a:t>    SELECT DISTINCT l.user_id</a:t>
            </a:r>
            <a:br/>
            <a:r>
              <a:t>    FROM LOANS l</a:t>
            </a:r>
            <a:br/>
            <a:r>
              <a:t>    JOIN FINES f ON l.loan_id = f.loan_id</a:t>
            </a:r>
            <a:br/>
            <a:r>
              <a:t>    WHERE f.payment_status = 'Unpaid'</a:t>
            </a:r>
            <a:br/>
            <a:r>
              <a:t>);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Operational Analytics: Flags all patrons with outstanding overdue financial penalties to restrict borrowing permissions at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26864"/>
            <a:ext cx="1072865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0016"/>
            <a:ext cx="103628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3. Correlated Subquery with EXISTS Operator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SELECT b.book_id, b.title</a:t>
            </a:r>
            <a:br/>
            <a:r>
              <a:t>FROM BOOKS b</a:t>
            </a:r>
            <a:br/>
            <a:r>
              <a:t>WHERE EXISTS (</a:t>
            </a:r>
            <a:br/>
            <a:r>
              <a:t>    SELECT 1</a:t>
            </a:r>
            <a:br/>
            <a:r>
              <a:t>    FROM BOOK_COPIES cp</a:t>
            </a:r>
            <a:br/>
            <a:r>
              <a:t>    JOIN LOANS l ON cp.copy_id = l.copy_id</a:t>
            </a:r>
            <a:br/>
            <a:r>
              <a:t>    WHERE cp.book_id = b.book_id</a:t>
            </a:r>
            <a:br/>
            <a:r>
              <a:t>    GROUP BY cp.copy_id</a:t>
            </a:r>
            <a:br/>
            <a:r>
              <a:t>    HAVING COUNT(l.loan_id) &gt;= 3</a:t>
            </a:r>
            <a:br/>
            <a:r>
              <a:t>);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Operational Analytics: Discovers 'High Circulation Velocity' titles where copies have been actively checked out 3 or more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SQL Functions — Aggregate, String, Date &amp; Analytical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AGGREGATE FUNCTIONS &amp; GROUP BY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COUNT(*), COUNT(DISTINCT l.user_id)
</a:t>
            </a:r>
            <a:r>
              <a:rPr sz="900">
                <a:solidFill>
                  <a:srgbClr val="475569"/>
                </a:solidFill>
              </a:rPr>
              <a:t>Measures total circulation transactions and distinct active patron engagement across semesters.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SUM(f.fine_amount)
</a:t>
            </a:r>
            <a:r>
              <a:rPr sz="900">
                <a:solidFill>
                  <a:srgbClr val="475569"/>
                </a:solidFill>
              </a:rPr>
              <a:t>Computes cumulative institutional penalty revenue and outstanding unpaid receivables.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AVG(MONTHS_BETWEEN(SYSDATE, b.acquisition_date))
</a:t>
            </a:r>
            <a:r>
              <a:rPr sz="900">
                <a:solidFill>
                  <a:srgbClr val="475569"/>
                </a:solidFill>
              </a:rPr>
              <a:t>Computes the mean retention age of catalog acquisitions for inventory deprecation.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MIN(due_date), MAX(due_date)
</a:t>
            </a:r>
            <a:r>
              <a:rPr sz="900">
                <a:solidFill>
                  <a:srgbClr val="475569"/>
                </a:solidFill>
              </a:rPr>
              <a:t>Identifies the earliest pending return and latest active return deadlines across campus.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GROUP BY ... HAVING COUNT(*) &gt; 5
</a:t>
            </a:r>
            <a:r>
              <a:rPr sz="900">
                <a:solidFill>
                  <a:srgbClr val="475569"/>
                </a:solidFill>
              </a:rPr>
              <a:t>Filters prolific authors and high-density categories exceeding borrowing thresholds.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SCALAR, STRING &amp; DATE FUNCTIONS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TO_CHAR(issue_date, 'YYYY-MM-DD HH24:MI')
</a:t>
            </a:r>
            <a:r>
              <a:rPr sz="900">
                <a:solidFill>
                  <a:srgbClr val="475569"/>
                </a:solidFill>
              </a:rPr>
              <a:t>Standardizes temporal audit timestamps across disparate client locales.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TRUNC(SYSDATE) - TRUNC(due_date)
</a:t>
            </a:r>
            <a:r>
              <a:rPr sz="900">
                <a:solidFill>
                  <a:srgbClr val="475569"/>
                </a:solidFill>
              </a:rPr>
              <a:t>Evaluates precise elapsed calendar days for overdue fine calculations.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UPPER(u.username), LOWER(u.email)
</a:t>
            </a:r>
            <a:r>
              <a:rPr sz="900">
                <a:solidFill>
                  <a:srgbClr val="475569"/>
                </a:solidFill>
              </a:rPr>
              <a:t>Normalizes patron authentication credentials to ensure case-insensitive identity matching.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REPLACE(b.isbn, '-', '')
</a:t>
            </a:r>
            <a:r>
              <a:rPr sz="900">
                <a:solidFill>
                  <a:srgbClr val="475569"/>
                </a:solidFill>
              </a:rPr>
              <a:t>Strips punctuation from ISBN strings for seamless barcode and query pattern matching.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NVL(return_date, 'Active Loan')
</a:t>
            </a:r>
            <a:r>
              <a:rPr sz="900">
                <a:solidFill>
                  <a:srgbClr val="475569"/>
                </a:solidFill>
              </a:rPr>
              <a:t>Handles NULL return dates gracefully in patron financial ledgers and dashboard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Multi-Table Relational Joins &amp; Abstract Database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MULTI-TABLE RELATIONAL JOINS (INNER &amp; LEFT OUTER)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-- 5-Table Master Circulation Ledger Join</a:t>
            </a:r>
            <a:br/>
            <a:r>
              <a:t>SELECT l.loan_id, u.username, u.role, b.title, c.category_name, cp.copy_id, l.issue_date, l.due_date, l.return_date</a:t>
            </a:r>
            <a:br/>
            <a:r>
              <a:t>FROM LOANS l</a:t>
            </a:r>
            <a:br/>
            <a:r>
              <a:t>INNER JOIN USERS u        ON l.user_id = u.user_id</a:t>
            </a:r>
            <a:br/>
            <a:r>
              <a:t>INNER JOIN BOOK_COPIES cp ON l.copy_id = cp.copy_id</a:t>
            </a:r>
            <a:br/>
            <a:r>
              <a:t>INNER JOIN BOOKS b        ON cp.book_id = b.book_id</a:t>
            </a:r>
            <a:br/>
            <a:r>
              <a:t>INNER JOIN CATEGORIES c   ON b.category_id = c.category_id</a:t>
            </a:r>
            <a:br/>
            <a:r>
              <a:t>LEFT OUTER JOIN FINES f   ON l.loan_id = f.loan_id;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107286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28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DATABASE VIEWS FOR APPLICATION REPORTING &amp; SECURITY MASKING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-- Abstract View: Masks sensitive password hashes and pre-aggregates patron financial exposure</a:t>
            </a:r>
            <a:br/>
            <a:r>
              <a:t>CREATE OR REPLACE VIEW VIEW_PATRON_FINANCIAL_SUMMARY AS</a:t>
            </a:r>
            <a:br/>
            <a:r>
              <a:t>SELECT u.user_id, u.username, u.email, u.role, u.account_status,</a:t>
            </a:r>
            <a:br/>
            <a:r>
              <a:t>       COUNT(DISTINCT l.loan_id) AS total_borrowings,</a:t>
            </a:r>
            <a:br/>
            <a:r>
              <a:t>       NVL(SUM(CASE WHEN f.payment_status = 'Unpaid' THEN f.fine_amount ELSE 0 END), 0) AS total_unpaid_fines</a:t>
            </a:r>
            <a:br/>
            <a:r>
              <a:t>FROM USERS u</a:t>
            </a:r>
            <a:br/>
            <a:r>
              <a:t>LEFT JOIN LOANS l ON u.user_id = l.user_id</a:t>
            </a:r>
            <a:br/>
            <a:r>
              <a:t>LEFT JOIN FINES f ON l.loan_id = f.loan_id</a:t>
            </a:r>
            <a:br/>
            <a:r>
              <a:t>GROUP BY u.user_id, u.username, u.email, u.role, u.account_status;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Database Triggers, Explicit Cursors &amp; Automated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PL/SQL TRIGGER: QUOTA ENFORCEMENT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CREATE OR REPLACE TRIGGER trg_check_borrow_quota</a:t>
            </a:r>
            <a:br/>
            <a:r>
              <a:t>BEFORE INSERT ON LOANS</a:t>
            </a:r>
            <a:br/>
            <a:r>
              <a:t>FOR EACH ROW</a:t>
            </a:r>
            <a:br/>
            <a:r>
              <a:t>DECLARE</a:t>
            </a:r>
            <a:br/>
            <a:r>
              <a:t>    v_active_loans NUMBER;</a:t>
            </a:r>
            <a:br/>
            <a:r>
              <a:t>BEGIN</a:t>
            </a:r>
            <a:br/>
            <a:r>
              <a:t>    -- Count currently active unreturned books</a:t>
            </a:r>
            <a:br/>
            <a:r>
              <a:t>    SELECT COUNT(*)</a:t>
            </a:r>
            <a:br/>
            <a:r>
              <a:t>    INTO v_active_loans</a:t>
            </a:r>
            <a:br/>
            <a:r>
              <a:t>    FROM LOANS</a:t>
            </a:r>
            <a:br/>
            <a:r>
              <a:t>    WHERE user_id = :NEW.user_id</a:t>
            </a:r>
            <a:br/>
            <a:r>
              <a:t>      AND return_date IS NULL;</a:t>
            </a:r>
            <a:br/>
            <a:br/>
            <a:r>
              <a:t>    IF v_active_loans &gt;= 3 THEN</a:t>
            </a:r>
            <a:br/>
            <a:r>
              <a:t>        RAISE_APPLICATION_ERROR(-20001,</a:t>
            </a:r>
            <a:br/>
            <a:r>
              <a:t>          'Policy Violation: Patron has reached max 3-book quota.');</a:t>
            </a:r>
            <a:br/>
            <a:r>
              <a:t>    END IF;</a:t>
            </a:r>
            <a:br/>
            <a:r>
              <a:t>END;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EXPLICIT CURSOR: OVERDUE FINE BATCH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DECLARE</a:t>
            </a:r>
            <a:br/>
            <a:r>
              <a:t>    CURSOR c_overdue IS</a:t>
            </a:r>
            <a:br/>
            <a:r>
              <a:t>        SELECT loan_id, due_date, TRUNC(SYSDATE) - TRUNC(due_date) AS days_late</a:t>
            </a:r>
            <a:br/>
            <a:r>
              <a:t>        FROM LOANS</a:t>
            </a:r>
            <a:br/>
            <a:r>
              <a:t>        WHERE return_date IS NULL</a:t>
            </a:r>
            <a:br/>
            <a:r>
              <a:t>          AND due_date &lt; SYSDATE;</a:t>
            </a:r>
            <a:br/>
            <a:r>
              <a:t>    r_ov c_overdue%ROWTYPE;</a:t>
            </a:r>
            <a:br/>
            <a:r>
              <a:t>BEGIN</a:t>
            </a:r>
            <a:br/>
            <a:r>
              <a:t>    OPEN c_overdue;</a:t>
            </a:r>
            <a:br/>
            <a:r>
              <a:t>    LOOP</a:t>
            </a:r>
            <a:br/>
            <a:r>
              <a:t>        FETCH c_overdue INTO r_ov;</a:t>
            </a:r>
            <a:br/>
            <a:r>
              <a:t>        EXIT WHEN c_overdue%NOTFOUND;</a:t>
            </a:r>
            <a:br/>
            <a:br/>
            <a:r>
              <a:t>        -- Auto-calculate Rs. 10/day fine</a:t>
            </a:r>
            <a:br/>
            <a:r>
              <a:t>        UPDATE FINES</a:t>
            </a:r>
            <a:br/>
            <a:r>
              <a:t>        SET fine_amount = r_ov.days_late * 10.0</a:t>
            </a:r>
            <a:br/>
            <a:r>
              <a:t>        WHERE loan_id = r_ov.loan_id</a:t>
            </a:r>
            <a:br/>
            <a:r>
              <a:t>          AND payment_status = 'Unpaid';</a:t>
            </a:r>
            <a:br/>
            <a:r>
              <a:t>    END LOOP;</a:t>
            </a:r>
            <a:br/>
            <a:r>
              <a:t>    CLOSE c_overdue;</a:t>
            </a:r>
            <a:br/>
            <a:r>
              <a:t>    COMMIT;</a:t>
            </a:r>
            <a:br/>
            <a:r>
              <a:t>END;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3: SQL QUERIES &amp; DATABASE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Stored Procedures, Functions &amp; Robust Exception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ENTERPRISE PL/SQL STORED PROCEDURE WITH PARAMETERS &amp; TRANSACTION CONTROL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CREATE OR REPLACE PROCEDURE sp_issue_book_loan (</a:t>
            </a:r>
            <a:br/>
            <a:r>
              <a:t>    p_user_id   IN  NUMBER,</a:t>
            </a:r>
            <a:br/>
            <a:r>
              <a:t>    p_copy_id   IN  NUMBER,</a:t>
            </a:r>
            <a:br/>
            <a:r>
              <a:t>    p_admin_id  IN  NUMBER,</a:t>
            </a:r>
            <a:br/>
            <a:r>
              <a:t>    p_loan_id   OUT NUMBER,</a:t>
            </a:r>
            <a:br/>
            <a:r>
              <a:t>    p_status    OUT VARCHAR2</a:t>
            </a:r>
            <a:br/>
            <a:r>
              <a:t>) AS</a:t>
            </a:r>
            <a:br/>
            <a:r>
              <a:t>    v_copy_status   VARCHAR2(20);</a:t>
            </a:r>
            <a:br/>
            <a:r>
              <a:t>    v_unpaid_fines  NUMBER;</a:t>
            </a:r>
            <a:br/>
            <a:r>
              <a:t>    ex_copy_busy    EXCEPTION;</a:t>
            </a:r>
            <a:br/>
            <a:r>
              <a:t>    ex_unpaid_fines EXCEPTION;</a:t>
            </a:r>
            <a:br/>
            <a:r>
              <a:t>BEGIN</a:t>
            </a:r>
            <a:br/>
            <a:r>
              <a:t>    -- Step 1: Verify physical inventory availability</a:t>
            </a:r>
            <a:br/>
            <a:r>
              <a:t>    SELECT status INTO v_copy_status FROM BOOK_COPIES WHERE copy_id = p_copy_id FOR UPDATE;</a:t>
            </a:r>
            <a:br/>
            <a:r>
              <a:t>    IF v_copy_status != 'Available' THEN RAISE ex_copy_busy; END IF;</a:t>
            </a:r>
            <a:br/>
            <a:br/>
            <a:r>
              <a:t>    -- Step 2: Verify zero outstanding financial penalties</a:t>
            </a:r>
            <a:br/>
            <a:r>
              <a:t>    SELECT NVL(SUM(fine_amount), 0) INTO v_unpaid_fines</a:t>
            </a:r>
            <a:br/>
            <a:r>
              <a:t>    FROM FINES f JOIN LOANS l ON f.loan_id = l.loan_id</a:t>
            </a:r>
            <a:br/>
            <a:r>
              <a:t>    WHERE l.user_id = p_user_id AND f.payment_status = 'Unpaid';</a:t>
            </a:r>
            <a:br/>
            <a:r>
              <a:t>    IF v_unpaid_fines &gt; 0 THEN RAISE ex_unpaid_fines; END IF;</a:t>
            </a:r>
            <a:br/>
            <a:br/>
            <a:r>
              <a:t>    -- Step 3: Insert loan and flip copy status atomically</a:t>
            </a:r>
            <a:br/>
            <a:r>
              <a:t>    INSERT INTO LOANS (copy_id, user_id, issue_date, due_date, issued_by)</a:t>
            </a:r>
            <a:br/>
            <a:r>
              <a:t>    VALUES (p_copy_id, p_user_id, SYSDATE, SYSDATE + 14, p_admin_id)</a:t>
            </a:r>
            <a:br/>
            <a:r>
              <a:t>    RETURNING loan_id INTO p_loan_id;</a:t>
            </a:r>
            <a:br/>
            <a:br/>
            <a:r>
              <a:t>    UPDATE BOOK_COPIES SET status = 'Borrowed' WHERE copy_id = p_copy_id;</a:t>
            </a:r>
            <a:br/>
            <a:br/>
            <a:r>
              <a:t>    COMMIT;</a:t>
            </a:r>
            <a:br/>
            <a:r>
              <a:t>    p_status := 'SUCCESS';</a:t>
            </a:r>
            <a:br/>
            <a:r>
              <a:t>EXCEPTION</a:t>
            </a:r>
            <a:br/>
            <a:r>
              <a:t>    WHEN ex_copy_busy THEN</a:t>
            </a:r>
            <a:br/>
            <a:r>
              <a:t>        ROLLBACK;</a:t>
            </a:r>
            <a:br/>
            <a:r>
              <a:t>        p_status := 'ERROR: Physical book copy is currently reserved or checked out.';</a:t>
            </a:r>
            <a:br/>
            <a:r>
              <a:t>    WHEN ex_unpaid_fines THEN</a:t>
            </a:r>
            <a:br/>
            <a:r>
              <a:t>        ROLLBACK;</a:t>
            </a:r>
            <a:br/>
            <a:r>
              <a:t>        p_status := 'ERROR: Patron has outstanding unpaid disciplinary fines.';</a:t>
            </a:r>
            <a:br/>
            <a:r>
              <a:t>    WHEN OTHERS THEN</a:t>
            </a:r>
            <a:br/>
            <a:r>
              <a:t>        ROLLBACK;</a:t>
            </a:r>
            <a:br/>
            <a:r>
              <a:t>        p_status := 'ERROR: ' || SQLERRM;</a:t>
            </a:r>
            <a:br/>
            <a:r>
              <a:t>END sp_issue_book_loan;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4: APPLICATION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Application Workflow &amp; Modular Code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PROJECT DIRECTORY TREE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DBS DA/</a:t>
            </a:r>
            <a:br/>
            <a:r>
              <a:t>├── app.py                # Core Flask app (24 routes, RBAC, Cypher/SQL)</a:t>
            </a:r>
            <a:br/>
            <a:r>
              <a:t>├── seed_all_data.py      # Neo4j schema constraints &amp; sample data seed</a:t>
            </a:r>
            <a:br/>
            <a:r>
              <a:t>├── requirements.txt      # Python dependencies (Flask, Neo4j, WTForms)</a:t>
            </a:r>
            <a:br/>
            <a:r>
              <a:t>├── .env.example          # Database connection template</a:t>
            </a:r>
            <a:br/>
            <a:r>
              <a:t>├── .gitignore            # Clean Git exclusions</a:t>
            </a:r>
            <a:br/>
            <a:r>
              <a:t>├── README.md             # Comprehensive architecture documentation</a:t>
            </a:r>
            <a:br/>
            <a:r>
              <a:t>├── templates/            # 24 Jinja2 HTML5 Professional Views</a:t>
            </a:r>
            <a:br/>
            <a:r>
              <a:t>│   ├── base.html         # Sidebar, topbar, navigation &amp; CSRF token</a:t>
            </a:r>
            <a:br/>
            <a:r>
              <a:t>│   ├── dashboard.html    # Role-based dashboard (Admin/Staff/Student)</a:t>
            </a:r>
            <a:br/>
            <a:r>
              <a:t>│   ├── catalog.html      # Category directory with copy aggregations</a:t>
            </a:r>
            <a:br/>
            <a:r>
              <a:t>│   ├── issue_loan.html   # Physical loan creation desk</a:t>
            </a:r>
            <a:br/>
            <a:r>
              <a:t>│   ├── graph_visualizer  # Interactive Vis.js live knowledge graph</a:t>
            </a:r>
            <a:br/>
            <a:r>
              <a:t>│   ├── book_bridge.html  # Shortest path traversal explorer</a:t>
            </a:r>
            <a:br/>
            <a:r>
              <a:t>│   └── learning_paths    # Acyclic prerequisite roadmaps</a:t>
            </a:r>
            <a:br/>
            <a:r>
              <a:t>└── scratch/              # Verification suites (phase1..phase6, test runners)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547"/>
                </a:solidFill>
              </a:defRPr>
            </a:pPr>
            <a:r>
              <a:t>HTTP REQUEST EXECUTION LIFECYCLE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40AF"/>
                </a:solidFill>
              </a:rPr>
              <a:t>Step 1: Inbound HTTP Request
</a:t>
            </a:r>
            <a:r>
              <a:rPr sz="850">
                <a:solidFill>
                  <a:srgbClr val="475569"/>
                </a:solidFill>
              </a:rPr>
              <a:t>Client browser triggers route (e.g. POST /issue_loan) with form payload and CSRF token.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40AF"/>
                </a:solidFill>
              </a:rPr>
              <a:t>Step 2: Security &amp; Session Middleware
</a:t>
            </a:r>
            <a:r>
              <a:rPr sz="850">
                <a:solidFill>
                  <a:srgbClr val="475569"/>
                </a:solidFill>
              </a:rPr>
              <a:t>Verifies active session in filesystem, validates 10-minute idle activity timestamp, and decrypts CSRF token.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40AF"/>
                </a:solidFill>
              </a:rPr>
              <a:t>Step 3: Role-Based Authorization
</a:t>
            </a:r>
            <a:r>
              <a:rPr sz="850">
                <a:solidFill>
                  <a:srgbClr val="475569"/>
                </a:solidFill>
              </a:rPr>
              <a:t>@role_required(['Admin', 'Librarian']) decorator checks user role; redirects unauthorized roles to 403 Access Denied.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40AF"/>
                </a:solidFill>
              </a:rPr>
              <a:t>Step 4: Query Execution &amp; Business Logic
</a:t>
            </a:r>
            <a:r>
              <a:rPr sz="850">
                <a:solidFill>
                  <a:srgbClr val="475569"/>
                </a:solidFill>
              </a:rPr>
              <a:t>Cypher query or PL/SQL procedure invoked via database driver session with parameterized injection protection.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40AF"/>
                </a:solidFill>
              </a:rPr>
              <a:t>Step 5: Dynamic View Rendering
</a:t>
            </a:r>
            <a:r>
              <a:rPr sz="850">
                <a:solidFill>
                  <a:srgbClr val="475569"/>
                </a:solidFill>
              </a:rPr>
              <a:t>Jinja2 compiles response template with DateWrapper objects and privacy-masked attributes.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40AF"/>
                </a:solidFill>
              </a:rPr>
              <a:t>Step 6: Client DOM Update
</a:t>
            </a:r>
            <a:r>
              <a:rPr sz="850">
                <a:solidFill>
                  <a:srgbClr val="475569"/>
                </a:solidFill>
              </a:rPr>
              <a:t>Rendered HTML/CSS returned with clean professional visuals and interactive Vis.js graph physics.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4: APPLICATION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Working Application Screenshots — Circulation &amp;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public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02920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4747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1. Secure Multi-Role Login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02920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4747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2. Admin Dashboard &amp; Active Circulation Ledgers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admin_issue_lo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79"/>
            <a:ext cx="5029200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080759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3. Physical Book Loan Issuance Desk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_admin_loan_reques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69079"/>
            <a:ext cx="5029200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6080759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4. Digital Loan Requests &amp; Copy Reservation Desk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4: APPLICATION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Working Application Screenshots — Graph &amp; AI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admin_graph_visual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02920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4747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1. Live Knowledge Graph Explorer (/graph_visualizer)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_admin_book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02920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4747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2. Book Bridge Shortest Path Traversal (/book_bridge)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9_admin_learning_pat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79"/>
            <a:ext cx="5029200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080759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3. Academic Learning Roadmaps DAG (/learning_paths)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0_admin_ai_recommend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69079"/>
            <a:ext cx="5029200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6080759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2547"/>
                </a:solidFill>
              </a:defRPr>
            </a:pPr>
            <a:r>
              <a:t>4. AI Collaborative Filtering Recommendations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4: APPLICATION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Role-Based Access Control &amp; Advanced Graph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ROLE-BASED ACCESS CONTROL (RBAC) MATRIX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ADMINISTRATOR
</a:t>
            </a:r>
            <a:r>
              <a:rPr sz="850">
                <a:solidFill>
                  <a:srgbClr val="475569"/>
                </a:solidFill>
              </a:rPr>
              <a:t>Full authority: User provisioning, role assignment, account suspension, password reset, book catalog registration and book deletion. Complete audit visibility.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LIBRARIAN
</a:t>
            </a:r>
            <a:r>
              <a:rPr sz="850">
                <a:solidFill>
                  <a:srgbClr val="475569"/>
                </a:solidFill>
              </a:rPr>
              <a:t>Circulation desk manager: Book loan creation, digital request approvals, copy reservations, check-in returns, and fine settlement. Cannot manage user accounts.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STAFF (FACULTY)
</a:t>
            </a:r>
            <a:r>
              <a:rPr sz="850">
                <a:solidFill>
                  <a:srgbClr val="475569"/>
                </a:solidFill>
              </a:rPr>
              <a:t>Academic borrower: Search catalog, borrow up to 3 books, view academic prerequisite roadmaps, explore author degree centrality, and review fine ledgers.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STUDENT (PATRON)
</a:t>
            </a:r>
            <a:r>
              <a:rPr sz="850">
                <a:solidFill>
                  <a:srgbClr val="475569"/>
                </a:solidFill>
              </a:rPr>
              <a:t>Academic patron: Search catalog, submit loan requests, view personalized AI recommendations, track prerequisite roadmaps, and monitor individual fines.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CUSTOM ARCHITECTURAL INNOVATIONS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1. Book-to-Book Bridge (Degrees of Separation)
</a:t>
            </a:r>
            <a:r>
              <a:rPr sz="850">
                <a:solidFill>
                  <a:srgbClr val="475569"/>
                </a:solidFill>
              </a:rPr>
              <a:t>Uses Cypher shortestPath() algorithm to uncover multi-hop links between disparate titles via prerequisites, co-authors, and categories.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2. Academic Learning Roadmaps (Directed Acyclic Graphs)
</a:t>
            </a:r>
            <a:r>
              <a:rPr sz="850">
                <a:solidFill>
                  <a:srgbClr val="475569"/>
                </a:solidFill>
              </a:rPr>
              <a:t>Hierarchical Vis.js network visualizer mapping foundational courses to advanced texts across CS, AI, and Distributed Systems.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3. Privacy-Preserving Patron Masking
</a:t>
            </a:r>
            <a:r>
              <a:rPr sz="850">
                <a:solidFill>
                  <a:srgbClr val="475569"/>
                </a:solidFill>
              </a:rPr>
              <a:t>When Students or Staff browse the Live Knowledge Graph, other patrons' identities and borrow requests are anonymized in real time.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4. Author Degree Centrality &amp; Borrowing Density
</a:t>
            </a:r>
            <a:r>
              <a:rPr sz="850">
                <a:solidFill>
                  <a:srgbClr val="475569"/>
                </a:solidFill>
              </a:rPr>
              <a:t>Computes influential scholars by loan volume and category closeness centrality to inform faculty acquisition budgets.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4: APPLICATION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Build, Setup &amp; Execution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44752"/>
            <a:ext cx="102412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STEP 1: CLONE REPOSITORY &amp; CREATE VIRTUAL ENVIRONMENT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git clone https://github.com/Karthi16-png/LIBRARAY-MANAGEMENT-SYSTEM.git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cd "DBS DA"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python -m venv .venv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.venv\Scripts\activate  (Windows)  OR  source .venv/bin/activate  (macOS/Linux)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102412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STEP 2: INSTALL DEPENDENCIES &amp; CONFIGURE ENVIRONMENT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Configure Neo4j AuraDB credentials in .env or environment variables: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  NEO4J_URI=neo4j+s://&lt;instance&gt;.databases.neo4j.io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  NEO4J_USERNAME=neo4j  |  NEO4J_PASSWORD=&lt;password&gt;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13632"/>
            <a:ext cx="102412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STEP 3: SEED GRAPH DATABASE (INITIAL SETUP)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python seed_all_data.py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-&gt; Establishes 12 schema uniqueness constraints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-&gt; Seeds 11 users across all 4 roles, 10 categories, 15+ books, copies, and prerequisite edges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09728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48072"/>
            <a:ext cx="102412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547"/>
                </a:solidFill>
                <a:latin typeface="Segoe UI"/>
              </a:defRPr>
            </a:pPr>
            <a:r>
              <a:t>STEP 4: LAUNCH PORTAL &amp; RUN TEST SUITES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python app.py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-&gt; Access interactive portal at http://127.0.0.1:5000/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Execute complete 7-phase automated verification runner: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  python scratch/run_all_phases.py  (100% Passing)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SECTION 4: APPLICATION IMPLEMENTATION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547"/>
                </a:solidFill>
                <a:latin typeface="Segoe UI"/>
              </a:defRPr>
            </a:pPr>
            <a:r>
              <a:t>GitHub Repository &amp; Project Key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OPEN-SOURCE GITHUB REPOSITORY</a:t>
            </a:r>
          </a:p>
          <a:p>
            <a:pPr>
              <a:spcBef>
                <a:spcPts val="800"/>
              </a:spcBef>
              <a:defRPr sz="950">
                <a:solidFill>
                  <a:srgbClr val="1E40AF"/>
                </a:solidFill>
                <a:latin typeface="Consolas"/>
              </a:defRPr>
            </a:pPr>
            <a:r>
              <a:t>Repository URL:</a:t>
            </a:r>
            <a:br/>
            <a:r>
              <a:t>https://github.com/Karthi16-png/LIBRARAY-MANAGEMENT-SYSTEM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1E293B"/>
                </a:solidFill>
              </a:rPr>
              <a:t>Production Codebase
</a:t>
            </a:r>
            <a:r>
              <a:rPr sz="850">
                <a:solidFill>
                  <a:srgbClr val="475569"/>
                </a:solidFill>
              </a:rPr>
              <a:t>Contains app.py (4,230 lines), seed scripts, 24 template views, and full verification test suites.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1E293B"/>
                </a:solidFill>
              </a:rPr>
              <a:t>Branching &amp; Hygiene
</a:t>
            </a:r>
            <a:r>
              <a:rPr sz="850">
                <a:solidFill>
                  <a:srgbClr val="475569"/>
                </a:solidFill>
              </a:rPr>
              <a:t>Clean Git commit history on branch main with .gitignore preventing credential exposure and cache staging.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1E293B"/>
                </a:solidFill>
              </a:rPr>
              <a:t>Documentation &amp; Dossier
</a:t>
            </a:r>
            <a:r>
              <a:rPr sz="850">
                <a:solidFill>
                  <a:srgbClr val="475569"/>
                </a:solidFill>
              </a:rPr>
              <a:t>Includes detailed README.md setup instructions and the 211-page master forensic audit report PDF.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547"/>
                </a:solidFill>
              </a:defRPr>
            </a:pPr>
            <a:r>
              <a:t>PROJECT OUTCOMES &amp; FUTURE ROADMAP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Database Migration Mastery
</a:t>
            </a:r>
            <a:r>
              <a:rPr sz="850">
                <a:solidFill>
                  <a:srgbClr val="475569"/>
                </a:solidFill>
              </a:rPr>
              <a:t>Gained deep architectural expertise by successfully migrating a transactional relational schema (Oracle 21c) into a modern, highly-connected graph store (Neo4j AuraDB).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PL/SQL &amp; Constraint Automation
</a:t>
            </a:r>
            <a:r>
              <a:rPr sz="850">
                <a:solidFill>
                  <a:srgbClr val="475569"/>
                </a:solidFill>
              </a:rPr>
              <a:t>Successfully replaced error-prone application validation with autonomous database triggers, procedures, and check constraints.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Enterprise RBAC Implementation
</a:t>
            </a:r>
            <a:r>
              <a:rPr sz="850">
                <a:solidFill>
                  <a:srgbClr val="475569"/>
                </a:solidFill>
              </a:rPr>
              <a:t>Engineered strict multi-role permission separation with patron privacy masking and audit trail logging.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Future Roadmap 1: RFID Hardware Integration
</a:t>
            </a:r>
            <a:r>
              <a:rPr sz="850">
                <a:solidFill>
                  <a:srgbClr val="475569"/>
                </a:solidFill>
              </a:rPr>
              <a:t>Deploy physical RFID return drop-boxes for automated instantaneous check-in without librarian intervention.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40AF"/>
                </a:solidFill>
              </a:rPr>
              <a:t>Future Roadmap 2: SMS &amp; Webhook Alerts
</a:t>
            </a:r>
            <a:r>
              <a:rPr sz="850">
                <a:solidFill>
                  <a:srgbClr val="475569"/>
                </a:solidFill>
              </a:rPr>
              <a:t>Automated email and WhatsApp notifications for books nearing return deadlines to minimize disciplinary fines.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2547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1E40AF"/>
                </a:solidFill>
                <a:latin typeface="Segoe UI"/>
              </a:defRPr>
            </a:pPr>
            <a:r>
              <a:t>Questions &amp; Faculty Evaluation Discussion</a:t>
            </a:r>
          </a:p>
          <a:p>
            <a:pPr algn="ctr"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t>VITCC Enterprise Library Management System</a:t>
            </a:r>
            <a:br/>
            <a:r>
              <a:t>Dual Relational &amp; Graph Database Implementation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0F2547"/>
                </a:solidFill>
              </a:defRPr>
            </a:pPr>
            <a:r>
              <a:t>Course: BACSE202 — Database Systems | Slot: F1+TF1</a:t>
            </a:r>
            <a:br/>
            <a:r>
              <a:t>Faculty Guide: Dr. R. Priyadarshini</a:t>
            </a:r>
          </a:p>
          <a:p>
            <a:pPr algn="ctr">
              <a:spcBef>
                <a:spcPts val="1400"/>
              </a:spcBef>
              <a:defRPr sz="1100">
                <a:solidFill>
                  <a:srgbClr val="1E293B"/>
                </a:solidFill>
              </a:defRPr>
            </a:pPr>
            <a:r>
              <a:t>Team Members: KARTHIK VALLIAPPAN C (25BAI1051) | NITHIN RANGASWAMY (25BAI1210) | NATRAJ (25BAI1079)</a:t>
            </a:r>
            <a:br/>
            <a:r>
              <a:t>School of Computer Science &amp; Engineering (SCOPE), VIT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