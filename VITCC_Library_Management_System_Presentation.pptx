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457200"/>
            <a:ext cx="4114800" cy="4114800"/>
          </a:xfrm>
          <a:prstGeom prst="ellipse">
            <a:avLst/>
          </a:prstGeom>
          <a:solidFill>
            <a:srgbClr val="19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10182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051560"/>
            <a:ext cx="9601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Segoe UI"/>
              </a:defRPr>
            </a:pPr>
            <a:r>
              <a:t>VITCC ENTERPRISE LIBRARY MANAGEMENT SYSTEM</a:t>
            </a:r>
          </a:p>
          <a:p>
            <a:pPr>
              <a:spcBef>
                <a:spcPts val="600"/>
              </a:spcBef>
              <a:defRPr sz="1400">
                <a:solidFill>
                  <a:srgbClr val="06B6D4"/>
                </a:solidFill>
                <a:latin typeface="Segoe UI"/>
              </a:defRPr>
            </a:pPr>
            <a:r>
              <a:t>Dual-Paradigm Relational &amp; Graph Database Architecture for Next-Generation Academic Libraries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Comprehensive Database Design, PL/SQL Automation, Neo4j AuraDB Integration &amp; RBAC Security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3291840"/>
            <a:ext cx="4389120" cy="2377440"/>
          </a:xfrm>
          <a:prstGeom prst="roundRect">
            <a:avLst/>
          </a:prstGeom>
          <a:solidFill>
            <a:srgbClr val="182238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429000"/>
            <a:ext cx="4023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Segoe UI"/>
              </a:defRPr>
            </a:pPr>
            <a:r>
              <a:t>ACADEMIC COURSE DETAILS</a:t>
            </a:r>
          </a:p>
          <a:p>
            <a:pPr>
              <a:spcBef>
                <a:spcPts val="300"/>
              </a:spcBef>
            </a:pPr>
            <a:r>
              <a:rPr b="1" sz="1000">
                <a:solidFill>
                  <a:srgbClr val="F8FAFC"/>
                </a:solidFill>
              </a:rPr>
              <a:t>Course Code: </a:t>
            </a:r>
            <a:r>
              <a:rPr sz="1000">
                <a:solidFill>
                  <a:srgbClr val="94A3B8"/>
                </a:solidFill>
              </a:rPr>
              <a:t>BACSE202</a:t>
            </a:r>
          </a:p>
          <a:p>
            <a:pPr>
              <a:spcBef>
                <a:spcPts val="300"/>
              </a:spcBef>
            </a:pPr>
            <a:r>
              <a:rPr b="1" sz="1000">
                <a:solidFill>
                  <a:srgbClr val="F8FAFC"/>
                </a:solidFill>
              </a:rPr>
              <a:t>Course Name: </a:t>
            </a:r>
            <a:r>
              <a:rPr sz="1000">
                <a:solidFill>
                  <a:srgbClr val="94A3B8"/>
                </a:solidFill>
              </a:rPr>
              <a:t>Database Systems</a:t>
            </a:r>
          </a:p>
          <a:p>
            <a:pPr>
              <a:spcBef>
                <a:spcPts val="300"/>
              </a:spcBef>
            </a:pPr>
            <a:r>
              <a:rPr b="1" sz="1000">
                <a:solidFill>
                  <a:srgbClr val="F8FAFC"/>
                </a:solidFill>
              </a:rPr>
              <a:t>Slot: </a:t>
            </a:r>
            <a:r>
              <a:rPr sz="1000">
                <a:solidFill>
                  <a:srgbClr val="06B6D4"/>
                </a:solidFill>
              </a:rPr>
              <a:t>F1+TF1</a:t>
            </a:r>
          </a:p>
          <a:p>
            <a:pPr>
              <a:spcBef>
                <a:spcPts val="300"/>
              </a:spcBef>
            </a:pPr>
            <a:r>
              <a:rPr b="1" sz="1000">
                <a:solidFill>
                  <a:srgbClr val="F8FAFC"/>
                </a:solidFill>
              </a:rPr>
              <a:t>Faculty Guide: </a:t>
            </a:r>
            <a:r>
              <a:rPr sz="1000">
                <a:solidFill>
                  <a:srgbClr val="94A3B8"/>
                </a:solidFill>
              </a:rPr>
              <a:t>Dr. R. Priyadarshini</a:t>
            </a:r>
          </a:p>
          <a:p>
            <a:pPr>
              <a:spcBef>
                <a:spcPts val="300"/>
              </a:spcBef>
            </a:pPr>
            <a:r>
              <a:rPr b="1" sz="1000">
                <a:solidFill>
                  <a:srgbClr val="F8FAFC"/>
                </a:solidFill>
              </a:rPr>
              <a:t>Department: </a:t>
            </a:r>
            <a:r>
              <a:rPr sz="1000">
                <a:solidFill>
                  <a:srgbClr val="94A3B8"/>
                </a:solidFill>
              </a:rPr>
              <a:t>School of Computer Science &amp; Eng. (SCOPE)</a:t>
            </a:r>
          </a:p>
          <a:p>
            <a:pPr>
              <a:spcBef>
                <a:spcPts val="300"/>
              </a:spcBef>
            </a:pPr>
            <a:r>
              <a:rPr b="1" sz="1000">
                <a:solidFill>
                  <a:srgbClr val="F8FAFC"/>
                </a:solidFill>
              </a:rPr>
              <a:t>Institution: </a:t>
            </a:r>
            <a:r>
              <a:rPr sz="1000">
                <a:solidFill>
                  <a:srgbClr val="94A3B8"/>
                </a:solidFill>
              </a:rPr>
              <a:t>Vellore Institute of Technology, Chennai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3291840"/>
            <a:ext cx="4937760" cy="2377440"/>
          </a:xfrm>
          <a:prstGeom prst="roundRect">
            <a:avLst/>
          </a:prstGeom>
          <a:solidFill>
            <a:srgbClr val="182238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342900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PROJECT DEVELOPMENT TEAM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F8FAFC"/>
                </a:solidFill>
              </a:rPr>
              <a:t>KARTHIK VALLIAPPAN C  </a:t>
            </a:r>
            <a:r>
              <a:rPr sz="1000">
                <a:solidFill>
                  <a:srgbClr val="F59E0B"/>
                </a:solidFill>
                <a:latin typeface="Consolas"/>
              </a:rPr>
              <a:t>[25BAI1051]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Lead Architecture, Graph Modeling, Backend &amp; RBAC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F8FAFC"/>
                </a:solidFill>
              </a:rPr>
              <a:t>NITHIN RANGASWAMY  </a:t>
            </a:r>
            <a:r>
              <a:rPr sz="1000">
                <a:solidFill>
                  <a:srgbClr val="F59E0B"/>
                </a:solidFill>
                <a:latin typeface="Consolas"/>
              </a:rPr>
              <a:t>[25BAI1210]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Database Schema, SQL DDL/DML, Constraints &amp; Auditing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F8FAFC"/>
                </a:solidFill>
              </a:rPr>
              <a:t>NATRAJ  </a:t>
            </a:r>
            <a:r>
              <a:rPr sz="1000">
                <a:solidFill>
                  <a:srgbClr val="F59E0B"/>
                </a:solidFill>
                <a:latin typeface="Consolas"/>
              </a:rPr>
              <a:t>[25BAI1079]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PL/SQL Programming, Stored Procedures &amp; Triggers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1: PROJECT INTRODUCTION &amp;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Executive Presentation 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02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78608" cy="46634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2578608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230428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Consolas"/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Project Introduction &amp; Design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Problem Statement &amp; Academic Objectives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Proposed Solution &amp; System Scope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Multi-Tier Architecture &amp; Tech Stack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Module Responsibilities &amp; Data Flow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645920"/>
            <a:ext cx="2578608" cy="46634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1645920"/>
            <a:ext cx="2578608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828800"/>
            <a:ext cx="230428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Consolas"/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Database Design &amp; Implementation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Conceptual Entity-Relationship (ER) Diagram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Relational Schema Mapping &amp; Normalization (BCNF)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Table DDL &amp; Comprehensive Integrity Constraints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Sample Records &amp; Referential Integrity Proof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645920"/>
            <a:ext cx="2578608" cy="46634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645920"/>
            <a:ext cx="2578608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828800"/>
            <a:ext cx="230428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Consolas"/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SQL Queries &amp; Database Programming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Application Feature-to-Query Mapping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DDL, DML &amp; Role-Based DCL Security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Analytical Subqueries &amp; Complex Joins / Views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PL/SQL Triggers, Cursors, Procedures &amp; Exceptions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645920"/>
            <a:ext cx="2578608" cy="46634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256" y="1645920"/>
            <a:ext cx="2578608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43416" y="1828800"/>
            <a:ext cx="230428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Consolas"/>
              </a:defRPr>
            </a:pPr>
            <a:r>
              <a:t>04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Application Demonstration &amp; Verification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Application Workflow &amp; Code Architecture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Live UI Screenshots: Circulation, Ledgers &amp; Admin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Graph Innovations: Explorer, Book Bridge &amp; Recs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• Build Instructions, GitHub Repo &amp; Outcomes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1: PROJECT INTRODUCTION &amp;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Introduction &amp; 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03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3383280" cy="47548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F43F5E"/>
                </a:solidFill>
              </a:defRPr>
            </a:pPr>
            <a:r>
              <a:t>PROBLEM STATEMENT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• Traditional library systems rely solely on relational tables with high-latency recursive joins for prerequisite tracking.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• Students lack visibility into multi-degree academic reading roadmaps across disciplines.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• Disciplinary fines and loan quotas are frequently bypassed due to lack of real-time database constraints.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• Patron privacy is vulnerable when borrowing histories are exposed without RBAC masking.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54480"/>
            <a:ext cx="3383280" cy="47548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PROPOSED SOLUTION &amp; SCOPE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• Engineered a Dual-Paradigm Architecture: Enterprise Relational Schema in Oracle 21c + Property Graph in Neo4j AuraDB.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• Strict 4-Role RBAC: Admin, Librarian, Faculty/Staff, and Academic Student.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• Automated Circulation Controls: 3-book patron quota enforcement, daily overdue fine auto-calculation (Rs. 5/day).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• Graph-Native Innovations: Live Interactive Graph Explorer, Book-to-Book Shortest Path Bridge, and Acyclic Prerequisite Roadmaps.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383280" cy="47548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TECHNOLOGY STACK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8FAFC"/>
                </a:solidFill>
              </a:rPr>
              <a:t>Frontend Presentation
</a:t>
            </a:r>
            <a:r>
              <a:rPr sz="950">
                <a:solidFill>
                  <a:srgbClr val="94A3B8"/>
                </a:solidFill>
              </a:rPr>
              <a:t>HTML5, Vanilla CSS Glassmorphism Dark Theme, Plus Jakarta Sans, JetBrains Mono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8FAFC"/>
                </a:solidFill>
              </a:rPr>
              <a:t>Interactive Graphics
</a:t>
            </a:r>
            <a:r>
              <a:rPr sz="950">
                <a:solidFill>
                  <a:srgbClr val="94A3B8"/>
                </a:solidFill>
              </a:rPr>
              <a:t>Vis.js Network v9.1.2 (Physics-driven hierarchical graph canvas)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8FAFC"/>
                </a:solidFill>
              </a:rPr>
              <a:t>Application Backend
</a:t>
            </a:r>
            <a:r>
              <a:rPr sz="950">
                <a:solidFill>
                  <a:srgbClr val="94A3B8"/>
                </a:solidFill>
              </a:rPr>
              <a:t>Python 3.12+, Flask 3.1, Flask-Session (Server-side files), Flask-WTF (CSRF)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8FAFC"/>
                </a:solidFill>
              </a:rPr>
              <a:t>Relational Database
</a:t>
            </a:r>
            <a:r>
              <a:rPr sz="950">
                <a:solidFill>
                  <a:srgbClr val="94A3B8"/>
                </a:solidFill>
              </a:rPr>
              <a:t>Oracle Database 21c Enterprise (PL/SQL Triggers, Procedures, Constraints)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8FAFC"/>
                </a:solidFill>
              </a:rPr>
              <a:t>Graph Database
</a:t>
            </a:r>
            <a:r>
              <a:rPr sz="950">
                <a:solidFill>
                  <a:srgbClr val="94A3B8"/>
                </a:solidFill>
              </a:rPr>
              <a:t>Neo4j AuraDB Cloud v5+ (Cypher traversal, shortestPath algorithms)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8FAFC"/>
                </a:solidFill>
              </a:rPr>
              <a:t>Quality Assurance
</a:t>
            </a:r>
            <a:r>
              <a:rPr sz="950">
                <a:solidFill>
                  <a:srgbClr val="94A3B8"/>
                </a:solidFill>
              </a:rPr>
              <a:t>7 Automated Test Suites with 100% Phase-by-Phase Verification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1: PROJECT INTRODUCTION &amp;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System Design &amp; Multi-Tier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04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0728655" cy="1097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109728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27632"/>
            <a:ext cx="292608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Segoe UI"/>
              </a:defRPr>
            </a:pPr>
            <a:r>
              <a:t>TIER 1: PRESENTATION LAYER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Client-Side User Interface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1627632"/>
            <a:ext cx="731520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• Glassmorphism Dark-Mode Web Portal (Vanilla CSS &amp; HTML5)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Vis.js Interactive Physics Network for Knowledge Graphs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Role-Adapted Views: Admin, Librarian, Faculty/Staff, Student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Real-Time Barcode &amp; Hyphen-Agnostic ISBN 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10728655" cy="1097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788920"/>
            <a:ext cx="109728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62072"/>
            <a:ext cx="292608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egoe UI"/>
              </a:defRPr>
            </a:pPr>
            <a:r>
              <a:t>TIER 2: APPLICATION &amp; SECURITY LAYER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Flask WSGI Middleware &amp; RBAC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862072"/>
            <a:ext cx="731520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• Central Controller (app.py) managing 24 template endpoints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Flask-WTF CSRF Protection on all mutable POST requests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Role-Based Access Control (@role_required, @login_required)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10-minute Server-Side Idle Session Expiration &amp; Sanitization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23360"/>
            <a:ext cx="10728655" cy="1097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109728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96512"/>
            <a:ext cx="292608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TIER 3: DATA ACCESS &amp; ORCHESTRATION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Dual Database Drivers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096512"/>
            <a:ext cx="731520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• Neo4j Bolt Protocol (neo4j+s://) with Cypher Query Language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cx_Oracle / Oracle Client Driver for Relational Transactions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Transaction Controller: Atomic Copy Status &amp; Loan Handover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Dynamic Date Wrapping &amp; Patron Privacy Masking Middleware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57800"/>
            <a:ext cx="10728655" cy="1097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5257800"/>
            <a:ext cx="109728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330952"/>
            <a:ext cx="292608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TIER 4: PERSISTENCE &amp; STORAGE TIER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Dual-Paradigm Database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5330952"/>
            <a:ext cx="731520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• Oracle 21c Relational Tables: 10 tables in BCNF, constraints, PL/SQL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Neo4j AuraDB Graph: 9 node entity types, 7 relationship edges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Autonomous Triggers: Quota enforcement, copy synchronization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Continuous Integrity Checks: Foreign Key Cascades &amp; Locks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2: DATABASE DESIGN &amp;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Conceptual Data Modeling — ER Diagram &amp; Entity Mapping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05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6217920" cy="4846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dia_179130197509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5943600" cy="33432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3504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94A3B8"/>
                </a:solidFill>
              </a:defRPr>
            </a:pPr>
            <a:r>
              <a:t>Figure: Conceptual Entity-Relationship (ER) Diagram of the Library System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554480"/>
            <a:ext cx="4327855" cy="4846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69164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ENTITY &amp; CARDINALITY MAPPING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</a:rPr>
              <a:t>1:N PUBLISHER -&gt; BOOKS
</a:t>
            </a:r>
            <a:r>
              <a:rPr sz="900">
                <a:solidFill>
                  <a:srgbClr val="94A3B8"/>
                </a:solidFill>
              </a:rPr>
              <a:t>One publisher produces many book titles; each title belongs to exactly one publisher.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</a:rPr>
              <a:t>M:N BOOKS &lt;-&gt; AUTHORS
</a:t>
            </a:r>
            <a:r>
              <a:rPr sz="900">
                <a:solidFill>
                  <a:srgbClr val="94A3B8"/>
                </a:solidFill>
              </a:rPr>
              <a:t>A book can have multiple co-authors; an author writes multiple books. Resolved via BOOK_AUTHORS associative table.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</a:rPr>
              <a:t>1:N BOOK -&gt; BOOK_COPIES
</a:t>
            </a:r>
            <a:r>
              <a:rPr sz="900">
                <a:solidFill>
                  <a:srgbClr val="94A3B8"/>
                </a:solidFill>
              </a:rPr>
              <a:t>Decouples abstract bibliographic metadata from physical trackable inventory copies.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</a:rPr>
              <a:t>1:N USER -&gt; LOANS
</a:t>
            </a:r>
            <a:r>
              <a:rPr sz="900">
                <a:solidFill>
                  <a:srgbClr val="94A3B8"/>
                </a:solidFill>
              </a:rPr>
              <a:t>A patron can have multiple historical borrowing events, strictly capped at 3 active concurrent loans.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</a:rPr>
              <a:t>1:1 LOAN -&gt; FINES
</a:t>
            </a:r>
            <a:r>
              <a:rPr sz="900">
                <a:solidFill>
                  <a:srgbClr val="94A3B8"/>
                </a:solidFill>
              </a:rPr>
              <a:t>An overdue loan generates a financial penalty record with automated Rs. 5/day calculation.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</a:rPr>
              <a:t>RELATIONAL NORMALIZATION
</a:t>
            </a:r>
            <a:r>
              <a:rPr sz="900">
                <a:solidFill>
                  <a:srgbClr val="94A3B8"/>
                </a:solidFill>
              </a:rPr>
              <a:t>Member, Employee, and Admin conceptual entities unified into USERS table with Role-Based Access Control.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2: DATABASE DESIGN &amp;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Relational Schema &amp; Normalization Proof (BCNF)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06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6400800" cy="4846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3B82F6"/>
                </a:solidFill>
              </a:defRPr>
            </a:pPr>
            <a:r>
              <a:t>RELATIONAL SCHEMA (PRIMARY &amp; FOREIGN KEYS)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6B6D4"/>
                </a:solidFill>
              </a:rPr>
              <a:t>CATEGORIES (</a:t>
            </a:r>
            <a:r>
              <a:rPr sz="900">
                <a:solidFill>
                  <a:srgbClr val="F8FAFC"/>
                </a:solidFill>
                <a:latin typeface="Consolas"/>
              </a:rPr>
              <a:t>category_id [PK], category_name, description</a:t>
            </a:r>
            <a:r>
              <a:rPr b="1" sz="950">
                <a:solidFill>
                  <a:srgbClr val="06B6D4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6B6D4"/>
                </a:solidFill>
              </a:rPr>
              <a:t>PUBLISHERS (</a:t>
            </a:r>
            <a:r>
              <a:rPr sz="900">
                <a:solidFill>
                  <a:srgbClr val="F8FAFC"/>
                </a:solidFill>
                <a:latin typeface="Consolas"/>
              </a:rPr>
              <a:t>publisher_id [PK], name, address, phone, email</a:t>
            </a:r>
            <a:r>
              <a:rPr b="1" sz="950">
                <a:solidFill>
                  <a:srgbClr val="06B6D4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6B6D4"/>
                </a:solidFill>
              </a:rPr>
              <a:t>AUTHORS (</a:t>
            </a:r>
            <a:r>
              <a:rPr sz="900">
                <a:solidFill>
                  <a:srgbClr val="F8FAFC"/>
                </a:solidFill>
                <a:latin typeface="Consolas"/>
              </a:rPr>
              <a:t>author_id [PK], first_name, last_name, bio</a:t>
            </a:r>
            <a:r>
              <a:rPr b="1" sz="950">
                <a:solidFill>
                  <a:srgbClr val="06B6D4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6B6D4"/>
                </a:solidFill>
              </a:rPr>
              <a:t>BOOKS (</a:t>
            </a:r>
            <a:r>
              <a:rPr sz="900">
                <a:solidFill>
                  <a:srgbClr val="F8FAFC"/>
                </a:solidFill>
                <a:latin typeface="Consolas"/>
              </a:rPr>
              <a:t>book_id [PK], title, isbn, publication_year, category_id [FK], publisher_id [FK]</a:t>
            </a:r>
            <a:r>
              <a:rPr b="1" sz="950">
                <a:solidFill>
                  <a:srgbClr val="06B6D4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6B6D4"/>
                </a:solidFill>
              </a:rPr>
              <a:t>BOOK_AUTHORS (</a:t>
            </a:r>
            <a:r>
              <a:rPr sz="900">
                <a:solidFill>
                  <a:srgbClr val="F8FAFC"/>
                </a:solidFill>
                <a:latin typeface="Consolas"/>
              </a:rPr>
              <a:t>book_id [PK, FK], author_id [PK, FK]</a:t>
            </a:r>
            <a:r>
              <a:rPr b="1" sz="950">
                <a:solidFill>
                  <a:srgbClr val="06B6D4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6B6D4"/>
                </a:solidFill>
              </a:rPr>
              <a:t>BOOK_COPIES (</a:t>
            </a:r>
            <a:r>
              <a:rPr sz="900">
                <a:solidFill>
                  <a:srgbClr val="F8FAFC"/>
                </a:solidFill>
                <a:latin typeface="Consolas"/>
              </a:rPr>
              <a:t>copy_id [PK], book_id [FK], status, acquisition_date</a:t>
            </a:r>
            <a:r>
              <a:rPr b="1" sz="950">
                <a:solidFill>
                  <a:srgbClr val="06B6D4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6B6D4"/>
                </a:solidFill>
              </a:rPr>
              <a:t>USERS (</a:t>
            </a:r>
            <a:r>
              <a:rPr sz="900">
                <a:solidFill>
                  <a:srgbClr val="F8FAFC"/>
                </a:solidFill>
                <a:latin typeface="Consolas"/>
              </a:rPr>
              <a:t>user_id [PK], username, password_hash, email, role, account_status</a:t>
            </a:r>
            <a:r>
              <a:rPr b="1" sz="950">
                <a:solidFill>
                  <a:srgbClr val="06B6D4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6B6D4"/>
                </a:solidFill>
              </a:rPr>
              <a:t>LOANS (</a:t>
            </a:r>
            <a:r>
              <a:rPr sz="900">
                <a:solidFill>
                  <a:srgbClr val="F8FAFC"/>
                </a:solidFill>
                <a:latin typeface="Consolas"/>
              </a:rPr>
              <a:t>loan_id [PK], copy_id [FK], user_id [FK], issue_date, due_date, return_date, issued_by [FK]</a:t>
            </a:r>
            <a:r>
              <a:rPr b="1" sz="950">
                <a:solidFill>
                  <a:srgbClr val="06B6D4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6B6D4"/>
                </a:solidFill>
              </a:rPr>
              <a:t>LOAN_REQUESTS (</a:t>
            </a:r>
            <a:r>
              <a:rPr sz="900">
                <a:solidFill>
                  <a:srgbClr val="F8FAFC"/>
                </a:solidFill>
                <a:latin typeface="Consolas"/>
              </a:rPr>
              <a:t>request_id [PK], user_id [FK], book_id [FK], request_date, status, copy_id [FK]</a:t>
            </a:r>
            <a:r>
              <a:rPr b="1" sz="950">
                <a:solidFill>
                  <a:srgbClr val="06B6D4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6B6D4"/>
                </a:solidFill>
              </a:rPr>
              <a:t>FINES (</a:t>
            </a:r>
            <a:r>
              <a:rPr sz="900">
                <a:solidFill>
                  <a:srgbClr val="F8FAFC"/>
                </a:solidFill>
                <a:latin typeface="Consolas"/>
              </a:rPr>
              <a:t>fine_id [PK], loan_id [FK], fine_amount, payment_status, payment_date, collected_by [FK]</a:t>
            </a:r>
            <a:r>
              <a:rPr b="1" sz="950">
                <a:solidFill>
                  <a:srgbClr val="06B6D4"/>
                </a:solidFill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554480"/>
            <a:ext cx="4144975" cy="4846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1691640"/>
            <a:ext cx="37792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0B981"/>
                </a:solidFill>
              </a:defRPr>
            </a:pPr>
            <a:r>
              <a:t>NORMALIZATION JUSTIFICATION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F8FAFC"/>
                </a:solidFill>
              </a:rPr>
              <a:t>First Normal Form (1NF)
</a:t>
            </a:r>
            <a:r>
              <a:rPr sz="900">
                <a:solidFill>
                  <a:srgbClr val="94A3B8"/>
                </a:solidFill>
              </a:rPr>
              <a:t>All attributes contain atomic, indivisible values. Multivalued authors and inventory copies are split into distinct relational tables.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F8FAFC"/>
                </a:solidFill>
              </a:rPr>
              <a:t>Second Normal Form (2NF)
</a:t>
            </a:r>
            <a:r>
              <a:rPr sz="900">
                <a:solidFill>
                  <a:srgbClr val="94A3B8"/>
                </a:solidFill>
              </a:rPr>
              <a:t>No partial functional dependencies exist. In BOOK_AUTHORS, composite key {book_id, author_id} determines full relationship membership.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F8FAFC"/>
                </a:solidFill>
              </a:rPr>
              <a:t>Third Normal Form (3NF)
</a:t>
            </a:r>
            <a:r>
              <a:rPr sz="900">
                <a:solidFill>
                  <a:srgbClr val="94A3B8"/>
                </a:solidFill>
              </a:rPr>
              <a:t>Eliminated all transitive dependencies (e.g. category_name determined solely by category_id, not by book_id).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F8FAFC"/>
                </a:solidFill>
              </a:rPr>
              <a:t>Boyce-Codd Normal Form (BCNF)
</a:t>
            </a:r>
            <a:r>
              <a:rPr sz="900">
                <a:solidFill>
                  <a:srgbClr val="94A3B8"/>
                </a:solidFill>
              </a:rPr>
              <a:t>Every functional dependency X -&gt; Y has X as a candidate key. Prevents update, insertion, and deletion anomalies across loan lifecycles.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2: DATABASE DESIGN &amp;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Table Creation &amp; Comprehensive Integrity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07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6217920" cy="48463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A5F3FC"/>
                </a:solidFill>
                <a:latin typeface="Consolas"/>
              </a:defRPr>
            </a:pPr>
            <a:r>
              <a:t>-- Comprehensive Constraints in Oracle DDL</a:t>
            </a:r>
            <a:br/>
            <a:r>
              <a:t>CREATE TABLE USERS (</a:t>
            </a:r>
            <a:br/>
            <a:r>
              <a:t>    user_id        NUMBER GENERATED BY DEFAULT AS IDENTITY PRIMARY KEY,</a:t>
            </a:r>
            <a:br/>
            <a:r>
              <a:t>    username       VARCHAR2(50) NOT NULL UNIQUE,</a:t>
            </a:r>
            <a:br/>
            <a:r>
              <a:t>    email          VARCHAR2(100) NOT NULL UNIQUE,</a:t>
            </a:r>
            <a:br/>
            <a:r>
              <a:t>    password_hash  VARCHAR2(255) NOT NULL,</a:t>
            </a:r>
            <a:br/>
            <a:r>
              <a:t>    role           VARCHAR2(20) DEFAULT 'Student' NOT NULL,</a:t>
            </a:r>
            <a:br/>
            <a:r>
              <a:t>    account_status VARCHAR2(20) DEFAULT 'Active' NOT NULL,</a:t>
            </a:r>
            <a:br/>
            <a:r>
              <a:t>    CONSTRAINT chk_user_role CHECK (role IN ('Admin', 'Librarian', 'Staff', 'Student')),</a:t>
            </a:r>
            <a:br/>
            <a:r>
              <a:t>    CONSTRAINT chk_user_status CHECK (account_status IN ('Active', 'Suspended'))</a:t>
            </a:r>
            <a:br/>
            <a:r>
              <a:t>);</a:t>
            </a:r>
            <a:br/>
            <a:br/>
            <a:r>
              <a:t>CREATE TABLE BOOK_COPIES (</a:t>
            </a:r>
            <a:br/>
            <a:r>
              <a:t>    copy_id NUMBER PRIMARY KEY,</a:t>
            </a:r>
            <a:br/>
            <a:r>
              <a:t>    book_id NUMBER NOT NULL REFERENCES BOOKS(book_id) ON DELETE CASCADE,</a:t>
            </a:r>
            <a:br/>
            <a:r>
              <a:t>    status  VARCHAR2(20) DEFAULT 'Available' NOT NULL,</a:t>
            </a:r>
            <a:br/>
            <a:r>
              <a:t>    CONSTRAINT chk_copy_status CHECK (status IN ('Available', 'Borrowed', 'Reserved', 'Maintenance'))</a:t>
            </a:r>
            <a:br/>
            <a:r>
              <a:t>);</a:t>
            </a:r>
            <a:br/>
            <a:br/>
            <a:r>
              <a:t>CREATE TABLE LOANS (</a:t>
            </a:r>
            <a:br/>
            <a:r>
              <a:t>    loan_id     NUMBER PRIMARY KEY,</a:t>
            </a:r>
            <a:br/>
            <a:r>
              <a:t>    copy_id     NUMBER NOT NULL REFERENCES BOOK_COPIES(copy_id),</a:t>
            </a:r>
            <a:br/>
            <a:r>
              <a:t>    user_id     NUMBER NOT NULL REFERENCES USERS(user_id) ON DELETE CASCADE,</a:t>
            </a:r>
            <a:br/>
            <a:r>
              <a:t>    issue_date  DATE DEFAULT SYSDATE NOT NULL,</a:t>
            </a:r>
            <a:br/>
            <a:r>
              <a:t>    due_date    DATE NOT NULL,</a:t>
            </a:r>
            <a:br/>
            <a:r>
              <a:t>    return_date DATE,</a:t>
            </a:r>
            <a:br/>
            <a:r>
              <a:t>    CONSTRAINT chk_loan_dates CHECK (due_date &gt;= issue_date)</a:t>
            </a:r>
            <a:br/>
            <a:r>
              <a:t>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554480"/>
            <a:ext cx="4327855" cy="4846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169164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59E0B"/>
                </a:solidFill>
              </a:defRPr>
            </a:pPr>
            <a:r>
              <a:t>INTEGRITY CONSTRAINTS IMPLEMENTED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8FAFC"/>
                </a:solidFill>
              </a:rPr>
              <a:t>PRIMARY KEY
</a:t>
            </a:r>
            <a:r>
              <a:rPr sz="900">
                <a:solidFill>
                  <a:srgbClr val="94A3B8"/>
                </a:solidFill>
              </a:rPr>
              <a:t>Enforces entity integrity (user_id, book_id, loan_id). Prohibits duplicate or NULL primary values.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8FAFC"/>
                </a:solidFill>
              </a:rPr>
              <a:t>FOREIGN KEY &amp; CASCADES
</a:t>
            </a:r>
            <a:r>
              <a:rPr sz="900">
                <a:solidFill>
                  <a:srgbClr val="94A3B8"/>
                </a:solidFill>
              </a:rPr>
              <a:t>Maintains referential integrity. Deleting a book automatically removes dependent copies (ON DELETE CASCADE), preventing dangling references.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8FAFC"/>
                </a:solidFill>
              </a:rPr>
              <a:t>CHECK CONSTRAINTS
</a:t>
            </a:r>
            <a:r>
              <a:rPr sz="900">
                <a:solidFill>
                  <a:srgbClr val="94A3B8"/>
                </a:solidFill>
              </a:rPr>
              <a:t>chk_user_role validates authorized roles; chk_copy_status prevents illegal inventory transitions; chk_loan_dates guarantees due_date &gt;= issue_date.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8FAFC"/>
                </a:solidFill>
              </a:rPr>
              <a:t>UNIQUE CONSTRAINTS
</a:t>
            </a:r>
            <a:r>
              <a:rPr sz="900">
                <a:solidFill>
                  <a:srgbClr val="94A3B8"/>
                </a:solidFill>
              </a:rPr>
              <a:t>Guarantees uniqueness across ISBN, username, and institutional email addresses.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8FAFC"/>
                </a:solidFill>
              </a:rPr>
              <a:t>DEFAULT &amp; NOT NULL
</a:t>
            </a:r>
            <a:r>
              <a:rPr sz="900">
                <a:solidFill>
                  <a:srgbClr val="94A3B8"/>
                </a:solidFill>
              </a:rPr>
              <a:t>Enforces required metadata and sets default values ('Active' account, 'Available' status, 'Unpaid' fine).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2: DATABASE DESIGN &amp;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Sample Data Records &amp; Referential Integrity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08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0728655" cy="23774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628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SAMPLE ENTITY RECORDS POPULATED IN DATABASE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920240"/>
          <a:ext cx="103628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194560"/>
                <a:gridCol w="1828800"/>
                <a:gridCol w="1645920"/>
                <a:gridCol w="1828800"/>
                <a:gridCol w="1767535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6B6D4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6B6D4"/>
                          </a:solidFill>
                        </a:defRPr>
                      </a:pPr>
                      <a:r>
                        <a:t>Identifier (PK)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6B6D4"/>
                          </a:solidFill>
                        </a:defRPr>
                      </a:pPr>
                      <a:r>
                        <a:t>Attribute 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6B6D4"/>
                          </a:solidFill>
                        </a:defRPr>
                      </a:pPr>
                      <a:r>
                        <a:t>Attribute 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6B6D4"/>
                          </a:solidFill>
                        </a:defRPr>
                      </a:pPr>
                      <a:r>
                        <a:t>Status / Role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06B6D4"/>
                          </a:solidFill>
                        </a:defRPr>
                      </a:pPr>
                      <a:r>
                        <a:t>Foreign Key Ref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user_id = 1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admin@vit.edu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Role: Admin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Account: Active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BOOKS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book_id = 2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Clean Code: Agile Craft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ISBN: 978-0132350884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Pub Year: 2008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Category: CS (ID: 1)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LOANS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loan_id = 14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copy_id = 2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user_id = 6 (student)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Issue: 2026-03-01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Due: 2026-03-15 (Overdue)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31520" y="4114800"/>
            <a:ext cx="5212080" cy="228600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B82F6"/>
                </a:solidFill>
              </a:defRPr>
            </a:pPr>
            <a:r>
              <a:t>REFERENTIAL INTEGRITY ENFORCEMENT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• Foreign Key Cascade: Deleting a category safely cascades to book catalog references or rejects if active loans exist.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• Copy Status Synchronization: Physical copy status is automatically flipped to 'Borrowed' upon loan issue and 'Available' upon check-in.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• Loan Anonymization on User Removal: Returning loans anonymize borrower references (user_id = 0) to preserve institutional statistical ledgers.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42255" cy="228600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0624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43F5E"/>
                </a:solidFill>
              </a:defRPr>
            </a:pPr>
            <a:r>
              <a:t>CONSTRAINT REJECTION TESTING (ERROR-PROOFING)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• Duplicate ISBN Rejection: ORA-00001 unique constraint violated if an existing ISBN is registered again.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• Borrowing Quota Rejection: PL/SQL Trigger and Flask middleware reject 4th borrowing attempt with 'Quota Limit Reached'.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• Disciplinary Fine Locking: Borrowing is blocked when unpaid disciplinary fines exist on a patron's ledger.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3: SQL QUERIES &amp; DATABASE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SQL Queries Mapped to Application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09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0728655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egoe UI"/>
              </a:defRPr>
            </a:pPr>
            <a:r>
              <a:t>Catalog &amp; Category Search (/catalog, /category/&lt;id&gt;)</a:t>
            </a:r>
          </a:p>
          <a:p>
            <a:pPr>
              <a:spcBef>
                <a:spcPts val="300"/>
              </a:spcBef>
              <a:defRPr sz="850">
                <a:solidFill>
                  <a:srgbClr val="BAE6FD"/>
                </a:solidFill>
                <a:latin typeface="Consolas"/>
              </a:defRPr>
            </a:pPr>
            <a:r>
              <a:t>SELECT b.book_id, b.title, b.isbn, b.publication_year, c.category_name,</a:t>
            </a:r>
            <a:br/>
            <a:r>
              <a:t>       COUNT(cp.copy_id) AS total_copies,</a:t>
            </a:r>
            <a:br/>
            <a:r>
              <a:t>       SUM(CASE WHEN cp.status = 'Available' THEN 1 ELSE 0 END) AS available_copies</a:t>
            </a:r>
            <a:br/>
            <a:r>
              <a:t>FROM BOOKS b</a:t>
            </a:r>
            <a:br/>
            <a:r>
              <a:t>JOIN CATEGORIES c ON b.category_id = c.category_id</a:t>
            </a:r>
            <a:br/>
            <a:r>
              <a:t>LEFT JOIN BOOK_COPIES cp ON b.book_id = cp.book_id</a:t>
            </a:r>
            <a:br/>
            <a:r>
              <a:t>WHERE LOWER(b.title) LIKE :query OR REPLACE(b.isbn, '-', '') LIKE :isbn_query</a:t>
            </a:r>
            <a:br/>
            <a:r>
              <a:t>GROUP BY b.book_id, b.title, b.isbn, b.publication_year, c.category_name;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</a:defRPr>
            </a:pPr>
            <a:r>
              <a:t>Operational Purpose: Supports instant filtering across titles, hyphenated/unhyphenated ISBNs, and authors with copy availability metrics.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10728655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69079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egoe UI"/>
              </a:defRPr>
            </a:pPr>
            <a:r>
              <a:t>Issue Loan Transaction (/issue_loan)</a:t>
            </a:r>
          </a:p>
          <a:p>
            <a:pPr>
              <a:spcBef>
                <a:spcPts val="300"/>
              </a:spcBef>
              <a:defRPr sz="850">
                <a:solidFill>
                  <a:srgbClr val="BAE6FD"/>
                </a:solidFill>
                <a:latin typeface="Consolas"/>
              </a:defRPr>
            </a:pPr>
            <a:r>
              <a:t>-- Atomic Loan Creation and Copy Status Lock</a:t>
            </a:r>
            <a:br/>
            <a:r>
              <a:t>INSERT INTO LOANS (loan_id, copy_id, user_id, issue_date, due_date, issued_by)</a:t>
            </a:r>
            <a:br/>
            <a:r>
              <a:t>VALUES (seq_loan_id.NEXTVAL, :copy_id, :user_id, SYSDATE, SYSDATE + 14, :admin_id);</a:t>
            </a:r>
            <a:br/>
            <a:br/>
            <a:r>
              <a:t>UPDATE BOOK_COPIES</a:t>
            </a:r>
            <a:br/>
            <a:r>
              <a:t>SET status = 'Borrowed'</a:t>
            </a:r>
            <a:br/>
            <a:r>
              <a:t>WHERE copy_id = :copy_id;</a:t>
            </a:r>
          </a:p>
          <a:p>
            <a:pPr>
              <a:spcBef>
                <a:spcPts val="300"/>
              </a:spcBef>
              <a:defRPr sz="900">
                <a:solidFill>
                  <a:srgbClr val="94A3B8"/>
                </a:solidFill>
              </a:defRPr>
            </a:pPr>
            <a:r>
              <a:t>Operational Purpose: Guarantees that a physical book copy cannot be double-issued to another patron concurrently.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3: SQL QUERIES &amp; DATABASE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DDL, DML, and Role-Based DCL Security Commands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10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3456432" cy="48463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345643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91640"/>
            <a:ext cx="31821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Segoe UI"/>
              </a:defRPr>
            </a:pPr>
            <a:r>
              <a:t>DDL (DATA DEFINITION LANGUAGE)</a:t>
            </a:r>
          </a:p>
          <a:p>
            <a:pPr>
              <a:spcBef>
                <a:spcPts val="800"/>
              </a:spcBef>
              <a:defRPr b="1" sz="950">
                <a:solidFill>
                  <a:srgbClr val="F8FAFC"/>
                </a:solidFill>
              </a:defRPr>
            </a:pPr>
            <a:r>
              <a:t>CREATE TABLE / INDEX</a:t>
            </a:r>
          </a:p>
          <a:p>
            <a:pPr>
              <a:spcBef>
                <a:spcPts val="200"/>
              </a:spcBef>
              <a:defRPr sz="800">
                <a:solidFill>
                  <a:srgbClr val="BAE6FD"/>
                </a:solidFill>
                <a:latin typeface="Consolas"/>
              </a:defRPr>
            </a:pPr>
            <a:r>
              <a:t>CREATE TABLE LOAN_REQUESTS (</a:t>
            </a:r>
            <a:br/>
            <a:r>
              <a:t>  request_id NUMBER PRIMARY KEY,</a:t>
            </a:r>
            <a:br/>
            <a:r>
              <a:t>  user_id NUMBER REFERENCES USERS(user_id),</a:t>
            </a:r>
            <a:br/>
            <a:r>
              <a:t>  book_id NUMBER REFERENCES BOOKS(book_id),</a:t>
            </a:r>
            <a:br/>
            <a:r>
              <a:t>  status VARCHAR2(20) DEFAULT 'Pending'</a:t>
            </a:r>
            <a:br/>
            <a:r>
              <a:t>);</a:t>
            </a:r>
          </a:p>
          <a:p>
            <a:pPr>
              <a:spcBef>
                <a:spcPts val="800"/>
              </a:spcBef>
              <a:defRPr b="1" sz="950">
                <a:solidFill>
                  <a:srgbClr val="F8FAFC"/>
                </a:solidFill>
              </a:defRPr>
            </a:pPr>
            <a:r>
              <a:t>ALTER TABLE CONSTRAINT</a:t>
            </a:r>
          </a:p>
          <a:p>
            <a:pPr>
              <a:spcBef>
                <a:spcPts val="200"/>
              </a:spcBef>
              <a:defRPr sz="800">
                <a:solidFill>
                  <a:srgbClr val="BAE6FD"/>
                </a:solidFill>
                <a:latin typeface="Consolas"/>
              </a:defRPr>
            </a:pPr>
            <a:r>
              <a:t>ALTER TABLE FINES ADD CONSTRAINT chk_fine_amt</a:t>
            </a:r>
            <a:br/>
            <a:r>
              <a:t>CHECK (fine_amount &gt;= 0);</a:t>
            </a:r>
          </a:p>
          <a:p>
            <a:pPr>
              <a:spcBef>
                <a:spcPts val="800"/>
              </a:spcBef>
              <a:defRPr b="1" sz="950">
                <a:solidFill>
                  <a:srgbClr val="F8FAFC"/>
                </a:solidFill>
              </a:defRPr>
            </a:pPr>
            <a:r>
              <a:t>CREATE UNIQUE INDEX</a:t>
            </a:r>
          </a:p>
          <a:p>
            <a:pPr>
              <a:spcBef>
                <a:spcPts val="200"/>
              </a:spcBef>
              <a:defRPr sz="800">
                <a:solidFill>
                  <a:srgbClr val="BAE6FD"/>
                </a:solidFill>
                <a:latin typeface="Consolas"/>
              </a:defRPr>
            </a:pPr>
            <a:r>
              <a:t>CREATE UNIQUE INDEX idx_isbn ON BOOKS(isbn);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554480"/>
            <a:ext cx="3456432" cy="48463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554480"/>
            <a:ext cx="345643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691640"/>
            <a:ext cx="31821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DML (DATA MANIPULATION LANGUAGE)</a:t>
            </a:r>
          </a:p>
          <a:p>
            <a:pPr>
              <a:spcBef>
                <a:spcPts val="800"/>
              </a:spcBef>
              <a:defRPr b="1" sz="950">
                <a:solidFill>
                  <a:srgbClr val="F8FAFC"/>
                </a:solidFill>
              </a:defRPr>
            </a:pPr>
            <a:r>
              <a:t>INSERT DATA</a:t>
            </a:r>
          </a:p>
          <a:p>
            <a:pPr>
              <a:spcBef>
                <a:spcPts val="200"/>
              </a:spcBef>
              <a:defRPr sz="800">
                <a:solidFill>
                  <a:srgbClr val="BAE6FD"/>
                </a:solidFill>
                <a:latin typeface="Consolas"/>
              </a:defRPr>
            </a:pPr>
            <a:r>
              <a:t>INSERT INTO BOOK_COPIES (copy_id, book_id, status)</a:t>
            </a:r>
            <a:br/>
            <a:r>
              <a:t>VALUES (seq_copy.NEXTVAL, 2, 'Available');</a:t>
            </a:r>
          </a:p>
          <a:p>
            <a:pPr>
              <a:spcBef>
                <a:spcPts val="800"/>
              </a:spcBef>
              <a:defRPr b="1" sz="950">
                <a:solidFill>
                  <a:srgbClr val="F8FAFC"/>
                </a:solidFill>
              </a:defRPr>
            </a:pPr>
            <a:r>
              <a:t>UPDATE TRANSACTION</a:t>
            </a:r>
          </a:p>
          <a:p>
            <a:pPr>
              <a:spcBef>
                <a:spcPts val="200"/>
              </a:spcBef>
              <a:defRPr sz="800">
                <a:solidFill>
                  <a:srgbClr val="BAE6FD"/>
                </a:solidFill>
                <a:latin typeface="Consolas"/>
              </a:defRPr>
            </a:pPr>
            <a:r>
              <a:t>UPDATE FINES SET payment_status = 'Paid',</a:t>
            </a:r>
            <a:br/>
            <a:r>
              <a:t>payment_date = SYSDATE WHERE fine_id = :fid;</a:t>
            </a:r>
          </a:p>
          <a:p>
            <a:pPr>
              <a:spcBef>
                <a:spcPts val="800"/>
              </a:spcBef>
              <a:defRPr b="1" sz="950">
                <a:solidFill>
                  <a:srgbClr val="F8FAFC"/>
                </a:solidFill>
              </a:defRPr>
            </a:pPr>
            <a:r>
              <a:t>DELETE CONDITIONAL</a:t>
            </a:r>
          </a:p>
          <a:p>
            <a:pPr>
              <a:spcBef>
                <a:spcPts val="200"/>
              </a:spcBef>
              <a:defRPr sz="800">
                <a:solidFill>
                  <a:srgbClr val="BAE6FD"/>
                </a:solidFill>
                <a:latin typeface="Consolas"/>
              </a:defRPr>
            </a:pPr>
            <a:r>
              <a:t>DELETE FROM LOAN_REQUESTS</a:t>
            </a:r>
            <a:br/>
            <a:r>
              <a:t>WHERE status = 'Rejected' AND request_date &lt; SYSDATE-30;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554480"/>
            <a:ext cx="3456432" cy="48463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0144" y="1554480"/>
            <a:ext cx="345643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7304" y="1691640"/>
            <a:ext cx="31821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DCL (DATA CONTROL LANGUAGE)</a:t>
            </a:r>
          </a:p>
          <a:p>
            <a:pPr>
              <a:spcBef>
                <a:spcPts val="800"/>
              </a:spcBef>
              <a:defRPr b="1" sz="950">
                <a:solidFill>
                  <a:srgbClr val="F8FAFC"/>
                </a:solidFill>
              </a:defRPr>
            </a:pPr>
            <a:r>
              <a:t>ROLE PROVISIONING</a:t>
            </a:r>
          </a:p>
          <a:p>
            <a:pPr>
              <a:spcBef>
                <a:spcPts val="200"/>
              </a:spcBef>
              <a:defRPr sz="800">
                <a:solidFill>
                  <a:srgbClr val="BAE6FD"/>
                </a:solidFill>
                <a:latin typeface="Consolas"/>
              </a:defRPr>
            </a:pPr>
            <a:r>
              <a:t>CREATE ROLE LIBRARIAN_ROLE;</a:t>
            </a:r>
            <a:br/>
            <a:r>
              <a:t>CREATE ROLE STUDENT_ROLE;</a:t>
            </a:r>
          </a:p>
          <a:p>
            <a:pPr>
              <a:spcBef>
                <a:spcPts val="800"/>
              </a:spcBef>
              <a:defRPr b="1" sz="950">
                <a:solidFill>
                  <a:srgbClr val="F8FAFC"/>
                </a:solidFill>
              </a:defRPr>
            </a:pPr>
            <a:r>
              <a:t>GRANT PRIVILEGES</a:t>
            </a:r>
          </a:p>
          <a:p>
            <a:pPr>
              <a:spcBef>
                <a:spcPts val="200"/>
              </a:spcBef>
              <a:defRPr sz="800">
                <a:solidFill>
                  <a:srgbClr val="BAE6FD"/>
                </a:solidFill>
                <a:latin typeface="Consolas"/>
              </a:defRPr>
            </a:pPr>
            <a:r>
              <a:t>GRANT SELECT, INSERT, UPDATE ON LOANS</a:t>
            </a:r>
            <a:br/>
            <a:r>
              <a:t>TO LIBRARIAN_ROLE;</a:t>
            </a:r>
            <a:br/>
            <a:r>
              <a:t>GRANT SELECT ON BOOKS TO STUDENT_ROLE;</a:t>
            </a:r>
          </a:p>
          <a:p>
            <a:pPr>
              <a:spcBef>
                <a:spcPts val="800"/>
              </a:spcBef>
              <a:defRPr b="1" sz="950">
                <a:solidFill>
                  <a:srgbClr val="F8FAFC"/>
                </a:solidFill>
              </a:defRPr>
            </a:pPr>
            <a:r>
              <a:t>REVOKE RESTRICTIONS</a:t>
            </a:r>
          </a:p>
          <a:p>
            <a:pPr>
              <a:spcBef>
                <a:spcPts val="200"/>
              </a:spcBef>
              <a:defRPr sz="800">
                <a:solidFill>
                  <a:srgbClr val="BAE6FD"/>
                </a:solidFill>
                <a:latin typeface="Consolas"/>
              </a:defRPr>
            </a:pPr>
            <a:r>
              <a:t>REVOKE DELETE ON BOOKS FROM STUDENT_ROLE;</a:t>
            </a:r>
            <a:br/>
            <a:r>
              <a:t>REVOKE UPDATE ON USERS FROM LIBRARIAN_ROLE;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3: SQL QUERIES &amp; DATABASE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Single-Row, Multiple-Row &amp; Correlated Subqueries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11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0728655" cy="15087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egoe UI"/>
              </a:defRPr>
            </a:pPr>
            <a:r>
              <a:t>1. Single-Row Subquery (Scalar Comparison)</a:t>
            </a:r>
          </a:p>
          <a:p>
            <a:pPr>
              <a:spcBef>
                <a:spcPts val="200"/>
              </a:spcBef>
              <a:defRPr sz="850">
                <a:solidFill>
                  <a:srgbClr val="A5F3FC"/>
                </a:solidFill>
                <a:latin typeface="Consolas"/>
              </a:defRPr>
            </a:pPr>
            <a:r>
              <a:t>SELECT b.book_id, b.title, b.publication_year</a:t>
            </a:r>
            <a:br/>
            <a:r>
              <a:t>FROM BOOKS b</a:t>
            </a:r>
            <a:br/>
            <a:r>
              <a:t>WHERE b.publication_year &gt; (</a:t>
            </a:r>
            <a:br/>
            <a:r>
              <a:t>    SELECT AVG(publication_year)</a:t>
            </a:r>
            <a:br/>
            <a:r>
              <a:t>    FROM BOOKS</a:t>
            </a:r>
            <a:br/>
            <a:r>
              <a:t>    WHERE category_id = b.category_id</a:t>
            </a:r>
            <a:br/>
            <a:r>
              <a:t>);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</a:defRPr>
            </a:pPr>
            <a:r>
              <a:t>Operational Analytics: Identifies books published more recently than the average publication vintage of their respective subject category.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10728655" cy="15087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27832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egoe UI"/>
              </a:defRPr>
            </a:pPr>
            <a:r>
              <a:t>2. Multiple-Row Subquery with IN / NOT IN Operators</a:t>
            </a:r>
          </a:p>
          <a:p>
            <a:pPr>
              <a:spcBef>
                <a:spcPts val="200"/>
              </a:spcBef>
              <a:defRPr sz="850">
                <a:solidFill>
                  <a:srgbClr val="A5F3FC"/>
                </a:solidFill>
                <a:latin typeface="Consolas"/>
              </a:defRPr>
            </a:pPr>
            <a:r>
              <a:t>SELECT u.user_id, u.username, u.email</a:t>
            </a:r>
            <a:br/>
            <a:r>
              <a:t>FROM USERS u</a:t>
            </a:r>
            <a:br/>
            <a:r>
              <a:t>WHERE u.user_id IN (</a:t>
            </a:r>
            <a:br/>
            <a:r>
              <a:t>    SELECT DISTINCT l.user_id</a:t>
            </a:r>
            <a:br/>
            <a:r>
              <a:t>    FROM LOANS l</a:t>
            </a:r>
            <a:br/>
            <a:r>
              <a:t>    JOIN FINES f ON l.loan_id = f.loan_id</a:t>
            </a:r>
            <a:br/>
            <a:r>
              <a:t>    WHERE f.payment_status = 'Unpaid'</a:t>
            </a:r>
            <a:br/>
            <a:r>
              <a:t>);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</a:defRPr>
            </a:pPr>
            <a:r>
              <a:t>Operational Analytics: Flags all patrons with outstanding overdue financial penalties to restrict borrowing permissions at checkout.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10728655" cy="15087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28032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egoe UI"/>
              </a:defRPr>
            </a:pPr>
            <a:r>
              <a:t>3. Correlated Subquery with EXISTS Operator</a:t>
            </a:r>
          </a:p>
          <a:p>
            <a:pPr>
              <a:spcBef>
                <a:spcPts val="200"/>
              </a:spcBef>
              <a:defRPr sz="850">
                <a:solidFill>
                  <a:srgbClr val="A5F3FC"/>
                </a:solidFill>
                <a:latin typeface="Consolas"/>
              </a:defRPr>
            </a:pPr>
            <a:r>
              <a:t>SELECT b.book_id, b.title</a:t>
            </a:r>
            <a:br/>
            <a:r>
              <a:t>FROM BOOKS b</a:t>
            </a:r>
            <a:br/>
            <a:r>
              <a:t>WHERE EXISTS (</a:t>
            </a:r>
            <a:br/>
            <a:r>
              <a:t>    SELECT 1</a:t>
            </a:r>
            <a:br/>
            <a:r>
              <a:t>    FROM BOOK_COPIES cp</a:t>
            </a:r>
            <a:br/>
            <a:r>
              <a:t>    JOIN LOANS l ON cp.copy_id = l.copy_id</a:t>
            </a:r>
            <a:br/>
            <a:r>
              <a:t>    WHERE cp.book_id = b.book_id</a:t>
            </a:r>
            <a:br/>
            <a:r>
              <a:t>    GROUP BY cp.copy_id</a:t>
            </a:r>
            <a:br/>
            <a:r>
              <a:t>    HAVING COUNT(l.loan_id) &gt;= 3</a:t>
            </a:r>
            <a:br/>
            <a:r>
              <a:t>);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</a:defRPr>
            </a:pPr>
            <a:r>
              <a:t>Operational Analytics: Discovers 'High Circulation Velocity' titles where copies have been actively checked out 3 or more times.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3: SQL QUERIES &amp; DATABASE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SQL Functions — Aggregate, String, Date &amp; Analytical Math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12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12080" cy="4846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3B82F6"/>
                </a:solidFill>
              </a:defRPr>
            </a:pPr>
            <a:r>
              <a:t>AGGREGATE FUNCTIONS &amp; GROUP BY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COUNT(*), COUNT(DISTINCT l.user_id)
</a:t>
            </a:r>
            <a:r>
              <a:rPr sz="900">
                <a:solidFill>
                  <a:srgbClr val="94A3B8"/>
                </a:solidFill>
              </a:rPr>
              <a:t>Measures total circulation transactions and distinct active patron engagement across semesters.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SUM(f.fine_amount)
</a:t>
            </a:r>
            <a:r>
              <a:rPr sz="900">
                <a:solidFill>
                  <a:srgbClr val="94A3B8"/>
                </a:solidFill>
              </a:rPr>
              <a:t>Computes cumulative institutional penalty revenue and outstanding unpaid receivables.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AVG(MONTHS_BETWEEN(SYSDATE, b.acquisition_date))
</a:t>
            </a:r>
            <a:r>
              <a:rPr sz="900">
                <a:solidFill>
                  <a:srgbClr val="94A3B8"/>
                </a:solidFill>
              </a:rPr>
              <a:t>Computes the mean retention age of catalog acquisitions for inventory deprecation.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MIN(due_date), MAX(due_date)
</a:t>
            </a:r>
            <a:r>
              <a:rPr sz="900">
                <a:solidFill>
                  <a:srgbClr val="94A3B8"/>
                </a:solidFill>
              </a:rPr>
              <a:t>Identifies the earliest pending return and latest active return deadlines across campus.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GROUP BY ... HAVING COUNT(*) &gt; 5
</a:t>
            </a:r>
            <a:r>
              <a:rPr sz="900">
                <a:solidFill>
                  <a:srgbClr val="94A3B8"/>
                </a:solidFill>
              </a:rPr>
              <a:t>Filters prolific authors and high-density categories exceeding borrowing thresholds.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42255" cy="4846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0B981"/>
                </a:solidFill>
              </a:defRPr>
            </a:pPr>
            <a:r>
              <a:t>SCALAR, STRING &amp; DATE FUNCTIONS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TO_CHAR(issue_date, 'YYYY-MM-DD HH24:MI')
</a:t>
            </a:r>
            <a:r>
              <a:rPr sz="900">
                <a:solidFill>
                  <a:srgbClr val="94A3B8"/>
                </a:solidFill>
              </a:rPr>
              <a:t>Standardizes temporal audit timestamps across disparate client locales.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TRUNC(SYSDATE) - TRUNC(due_date)
</a:t>
            </a:r>
            <a:r>
              <a:rPr sz="900">
                <a:solidFill>
                  <a:srgbClr val="94A3B8"/>
                </a:solidFill>
              </a:rPr>
              <a:t>Evaluates precise elapsed calendar days for overdue fine calculations.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UPPER(u.username), LOWER(u.email)
</a:t>
            </a:r>
            <a:r>
              <a:rPr sz="900">
                <a:solidFill>
                  <a:srgbClr val="94A3B8"/>
                </a:solidFill>
              </a:rPr>
              <a:t>Normalizes patron authentication credentials to ensure case-insensitive identity matching.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REPLACE(b.isbn, '-', '')
</a:t>
            </a:r>
            <a:r>
              <a:rPr sz="900">
                <a:solidFill>
                  <a:srgbClr val="94A3B8"/>
                </a:solidFill>
              </a:rPr>
              <a:t>Strips punctuation from ISBN strings for seamless barcode and query pattern matching.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NVL(return_date, 'Active Loan')
</a:t>
            </a:r>
            <a:r>
              <a:rPr sz="900">
                <a:solidFill>
                  <a:srgbClr val="94A3B8"/>
                </a:solidFill>
              </a:rPr>
              <a:t>Handles NULL return dates gracefully in patron financial ledgers and dashboard reports.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3: SQL QUERIES &amp; DATABASE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Multi-Table Relational Joins &amp; Abstract Database Views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13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0728655" cy="23774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628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6B6D4"/>
                </a:solidFill>
              </a:defRPr>
            </a:pPr>
            <a:r>
              <a:t>MULTI-TABLE RELATIONAL JOINS (INNER &amp; LEFT OUTER)</a:t>
            </a:r>
          </a:p>
          <a:p>
            <a:pPr>
              <a:spcBef>
                <a:spcPts val="300"/>
              </a:spcBef>
              <a:defRPr sz="850">
                <a:solidFill>
                  <a:srgbClr val="A5F3FC"/>
                </a:solidFill>
                <a:latin typeface="Consolas"/>
              </a:defRPr>
            </a:pPr>
            <a:r>
              <a:t>-- 5-Table Master Circulation Ledger Join</a:t>
            </a:r>
            <a:br/>
            <a:r>
              <a:t>SELECT l.loan_id, u.username, u.role, b.title, c.category_name, cp.copy_id, l.issue_date, l.due_date, l.return_date</a:t>
            </a:r>
            <a:br/>
            <a:r>
              <a:t>FROM LOANS l</a:t>
            </a:r>
            <a:br/>
            <a:r>
              <a:t>INNER JOIN USERS u        ON l.user_id = u.user_id</a:t>
            </a:r>
            <a:br/>
            <a:r>
              <a:t>INNER JOIN BOOK_COPIES cp ON l.copy_id = cp.copy_id</a:t>
            </a:r>
            <a:br/>
            <a:r>
              <a:t>INNER JOIN BOOKS b        ON cp.book_id = b.book_id</a:t>
            </a:r>
            <a:br/>
            <a:r>
              <a:t>INNER JOIN CATEGORIES c   ON b.category_id = c.category_id</a:t>
            </a:r>
            <a:br/>
            <a:r>
              <a:t>LEFT OUTER JOIN FINES f   ON l.loan_id = f.loan_id;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10728655" cy="228600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59E0B"/>
                </a:solidFill>
              </a:defRPr>
            </a:pPr>
            <a:r>
              <a:t>DATABASE VIEWS FOR APPLICATION REPORTING &amp; SECURITY MASKING</a:t>
            </a:r>
          </a:p>
          <a:p>
            <a:pPr>
              <a:spcBef>
                <a:spcPts val="300"/>
              </a:spcBef>
              <a:defRPr sz="850">
                <a:solidFill>
                  <a:srgbClr val="FEF08A"/>
                </a:solidFill>
                <a:latin typeface="Consolas"/>
              </a:defRPr>
            </a:pPr>
            <a:r>
              <a:t>-- Abstract View: Masks sensitive password hashes and pre-aggregates patron financial exposure</a:t>
            </a:r>
            <a:br/>
            <a:r>
              <a:t>CREATE OR REPLACE VIEW VIEW_PATRON_FINANCIAL_SUMMARY AS</a:t>
            </a:r>
            <a:br/>
            <a:r>
              <a:t>SELECT u.user_id, u.username, u.email, u.role, u.account_status,</a:t>
            </a:r>
            <a:br/>
            <a:r>
              <a:t>       COUNT(DISTINCT l.loan_id) AS total_borrowings,</a:t>
            </a:r>
            <a:br/>
            <a:r>
              <a:t>       NVL(SUM(CASE WHEN f.payment_status = 'Unpaid' THEN f.fine_amount ELSE 0 END), 0) AS total_unpaid_fines</a:t>
            </a:r>
            <a:br/>
            <a:r>
              <a:t>FROM USERS u</a:t>
            </a:r>
            <a:br/>
            <a:r>
              <a:t>LEFT JOIN LOANS l ON u.user_id = l.user_id</a:t>
            </a:r>
            <a:br/>
            <a:r>
              <a:t>LEFT JOIN FINES f ON l.loan_id = f.loan_id</a:t>
            </a:r>
            <a:br/>
            <a:r>
              <a:t>GROUP BY u.user_id, u.username, u.email, u.role, u.account_status;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3: SQL QUERIES &amp; DATABASE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Database Triggers, Explicit Cursors &amp; Automated Auditing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14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12080" cy="48463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43F5E"/>
                </a:solidFill>
              </a:defRPr>
            </a:pPr>
            <a:r>
              <a:t>PL/SQL TRIGGER: QUOTA ENFORCEMENT</a:t>
            </a:r>
          </a:p>
          <a:p>
            <a:pPr>
              <a:spcBef>
                <a:spcPts val="400"/>
              </a:spcBef>
              <a:defRPr sz="850">
                <a:solidFill>
                  <a:srgbClr val="FDA4AF"/>
                </a:solidFill>
                <a:latin typeface="Consolas"/>
              </a:defRPr>
            </a:pPr>
            <a:r>
              <a:t>CREATE OR REPLACE TRIGGER trg_check_borrow_quota</a:t>
            </a:r>
            <a:br/>
            <a:r>
              <a:t>BEFORE INSERT ON LOANS</a:t>
            </a:r>
            <a:br/>
            <a:r>
              <a:t>FOR EACH ROW</a:t>
            </a:r>
            <a:br/>
            <a:r>
              <a:t>DECLARE</a:t>
            </a:r>
            <a:br/>
            <a:r>
              <a:t>    v_active_loans NUMBER;</a:t>
            </a:r>
            <a:br/>
            <a:r>
              <a:t>BEGIN</a:t>
            </a:r>
            <a:br/>
            <a:r>
              <a:t>    -- Count currently active unreturned books</a:t>
            </a:r>
            <a:br/>
            <a:r>
              <a:t>    SELECT COUNT(*)</a:t>
            </a:r>
            <a:br/>
            <a:r>
              <a:t>    INTO v_active_loans</a:t>
            </a:r>
            <a:br/>
            <a:r>
              <a:t>    FROM LOANS</a:t>
            </a:r>
            <a:br/>
            <a:r>
              <a:t>    WHERE user_id = :NEW.user_id</a:t>
            </a:r>
            <a:br/>
            <a:r>
              <a:t>      AND return_date IS NULL;</a:t>
            </a:r>
            <a:br/>
            <a:br/>
            <a:r>
              <a:t>    IF v_active_loans &gt;= 3 THEN</a:t>
            </a:r>
            <a:br/>
            <a:r>
              <a:t>        RAISE_APPLICATION_ERROR(-20001,</a:t>
            </a:r>
            <a:br/>
            <a:r>
              <a:t>          'Policy Violation: Patron has reached max 3-book quota.');</a:t>
            </a:r>
            <a:br/>
            <a:r>
              <a:t>    END IF;</a:t>
            </a:r>
            <a:br/>
            <a:r>
              <a:t>END;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42255" cy="48463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EXPLICIT CURSOR: OVERDUE FINE BATCH</a:t>
            </a:r>
          </a:p>
          <a:p>
            <a:pPr>
              <a:spcBef>
                <a:spcPts val="400"/>
              </a:spcBef>
              <a:defRPr sz="850">
                <a:solidFill>
                  <a:srgbClr val="A7F3D0"/>
                </a:solidFill>
                <a:latin typeface="Consolas"/>
              </a:defRPr>
            </a:pPr>
            <a:r>
              <a:t>DECLARE</a:t>
            </a:r>
            <a:br/>
            <a:r>
              <a:t>    CURSOR c_overdue IS</a:t>
            </a:r>
            <a:br/>
            <a:r>
              <a:t>        SELECT loan_id, due_date, TRUNC(SYSDATE) - TRUNC(due_date) AS days_late</a:t>
            </a:r>
            <a:br/>
            <a:r>
              <a:t>        FROM LOANS</a:t>
            </a:r>
            <a:br/>
            <a:r>
              <a:t>        WHERE return_date IS NULL</a:t>
            </a:r>
            <a:br/>
            <a:r>
              <a:t>          AND due_date &lt; SYSDATE;</a:t>
            </a:r>
            <a:br/>
            <a:r>
              <a:t>    r_ov c_overdue%ROWTYPE;</a:t>
            </a:r>
            <a:br/>
            <a:r>
              <a:t>BEGIN</a:t>
            </a:r>
            <a:br/>
            <a:r>
              <a:t>    OPEN c_overdue;</a:t>
            </a:r>
            <a:br/>
            <a:r>
              <a:t>    LOOP</a:t>
            </a:r>
            <a:br/>
            <a:r>
              <a:t>        FETCH c_overdue INTO r_ov;</a:t>
            </a:r>
            <a:br/>
            <a:r>
              <a:t>        EXIT WHEN c_overdue%NOTFOUND;</a:t>
            </a:r>
            <a:br/>
            <a:br/>
            <a:r>
              <a:t>        -- Auto-calculate Rs. 5/day fine</a:t>
            </a:r>
            <a:br/>
            <a:r>
              <a:t>        UPDATE FINES</a:t>
            </a:r>
            <a:br/>
            <a:r>
              <a:t>        SET fine_amount = r_ov.days_late * 5.0</a:t>
            </a:r>
            <a:br/>
            <a:r>
              <a:t>        WHERE loan_id = r_ov.loan_id</a:t>
            </a:r>
            <a:br/>
            <a:r>
              <a:t>          AND payment_status = 'Unpaid';</a:t>
            </a:r>
            <a:br/>
            <a:r>
              <a:t>    END LOOP;</a:t>
            </a:r>
            <a:br/>
            <a:r>
              <a:t>    CLOSE c_overdue;</a:t>
            </a:r>
            <a:br/>
            <a:r>
              <a:t>    COMMIT;</a:t>
            </a:r>
            <a:br/>
            <a:r>
              <a:t>END;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3: SQL QUERIES &amp; DATABASE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Stored Procedures, Functions &amp; Robust Exception Handling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15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0728655" cy="48463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3628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6B6D4"/>
                </a:solidFill>
              </a:defRPr>
            </a:pPr>
            <a:r>
              <a:t>ENTERPRISE PL/SQL STORED PROCEDURE WITH PARAMETERS &amp; TRANSACTION CONTROL</a:t>
            </a:r>
          </a:p>
          <a:p>
            <a:pPr>
              <a:spcBef>
                <a:spcPts val="400"/>
              </a:spcBef>
              <a:defRPr sz="850">
                <a:solidFill>
                  <a:srgbClr val="C7D2FE"/>
                </a:solidFill>
                <a:latin typeface="Consolas"/>
              </a:defRPr>
            </a:pPr>
            <a:r>
              <a:t>CREATE OR REPLACE PROCEDURE sp_issue_book_loan (</a:t>
            </a:r>
            <a:br/>
            <a:r>
              <a:t>    p_user_id   IN  NUMBER,</a:t>
            </a:r>
            <a:br/>
            <a:r>
              <a:t>    p_copy_id   IN  NUMBER,</a:t>
            </a:r>
            <a:br/>
            <a:r>
              <a:t>    p_admin_id  IN  NUMBER,</a:t>
            </a:r>
            <a:br/>
            <a:r>
              <a:t>    p_loan_id   OUT NUMBER,</a:t>
            </a:r>
            <a:br/>
            <a:r>
              <a:t>    p_status    OUT VARCHAR2</a:t>
            </a:r>
            <a:br/>
            <a:r>
              <a:t>) AS</a:t>
            </a:r>
            <a:br/>
            <a:r>
              <a:t>    v_copy_status   VARCHAR2(20);</a:t>
            </a:r>
            <a:br/>
            <a:r>
              <a:t>    v_unpaid_fines  NUMBER;</a:t>
            </a:r>
            <a:br/>
            <a:r>
              <a:t>    ex_copy_busy    EXCEPTION;</a:t>
            </a:r>
            <a:br/>
            <a:r>
              <a:t>    ex_unpaid_fines EXCEPTION;</a:t>
            </a:r>
            <a:br/>
            <a:r>
              <a:t>BEGIN</a:t>
            </a:r>
            <a:br/>
            <a:r>
              <a:t>    -- Step 1: Verify physical inventory availability</a:t>
            </a:r>
            <a:br/>
            <a:r>
              <a:t>    SELECT status INTO v_copy_status FROM BOOK_COPIES WHERE copy_id = p_copy_id FOR UPDATE;</a:t>
            </a:r>
            <a:br/>
            <a:r>
              <a:t>    IF v_copy_status != 'Available' THEN RAISE ex_copy_busy; END IF;</a:t>
            </a:r>
            <a:br/>
            <a:br/>
            <a:r>
              <a:t>    -- Step 2: Verify zero outstanding financial penalties</a:t>
            </a:r>
            <a:br/>
            <a:r>
              <a:t>    SELECT NVL(SUM(fine_amount), 0) INTO v_unpaid_fines</a:t>
            </a:r>
            <a:br/>
            <a:r>
              <a:t>    FROM FINES f JOIN LOANS l ON f.loan_id = l.loan_id</a:t>
            </a:r>
            <a:br/>
            <a:r>
              <a:t>    WHERE l.user_id = p_user_id AND f.payment_status = 'Unpaid';</a:t>
            </a:r>
            <a:br/>
            <a:r>
              <a:t>    IF v_unpaid_fines &gt; 0 THEN RAISE ex_unpaid_fines; END IF;</a:t>
            </a:r>
            <a:br/>
            <a:br/>
            <a:r>
              <a:t>    -- Step 3: Insert loan and flip copy status atomically</a:t>
            </a:r>
            <a:br/>
            <a:r>
              <a:t>    INSERT INTO LOANS (copy_id, user_id, issue_date, due_date, issued_by)</a:t>
            </a:r>
            <a:br/>
            <a:r>
              <a:t>    VALUES (p_copy_id, p_user_id, SYSDATE, SYSDATE + 14, p_admin_id)</a:t>
            </a:r>
            <a:br/>
            <a:r>
              <a:t>    RETURNING loan_id INTO p_loan_id;</a:t>
            </a:r>
            <a:br/>
            <a:br/>
            <a:r>
              <a:t>    UPDATE BOOK_COPIES SET status = 'Borrowed' WHERE copy_id = p_copy_id;</a:t>
            </a:r>
            <a:br/>
            <a:br/>
            <a:r>
              <a:t>    COMMIT;</a:t>
            </a:r>
            <a:br/>
            <a:r>
              <a:t>    p_status := 'SUCCESS';</a:t>
            </a:r>
            <a:br/>
            <a:r>
              <a:t>EXCEPTION</a:t>
            </a:r>
            <a:br/>
            <a:r>
              <a:t>    WHEN ex_copy_busy THEN</a:t>
            </a:r>
            <a:br/>
            <a:r>
              <a:t>        ROLLBACK;</a:t>
            </a:r>
            <a:br/>
            <a:r>
              <a:t>        p_status := 'ERROR: Physical book copy is currently reserved or checked out.';</a:t>
            </a:r>
            <a:br/>
            <a:r>
              <a:t>    WHEN ex_unpaid_fines THEN</a:t>
            </a:r>
            <a:br/>
            <a:r>
              <a:t>        ROLLBACK;</a:t>
            </a:r>
            <a:br/>
            <a:r>
              <a:t>        p_status := 'ERROR: Patron has outstanding unpaid disciplinary fines.';</a:t>
            </a:r>
            <a:br/>
            <a:r>
              <a:t>    WHEN OTHERS THEN</a:t>
            </a:r>
            <a:br/>
            <a:r>
              <a:t>        ROLLBACK;</a:t>
            </a:r>
            <a:br/>
            <a:r>
              <a:t>        p_status := 'ERROR: ' || SQLERRM;</a:t>
            </a:r>
            <a:br/>
            <a:r>
              <a:t>END sp_issue_book_loan;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4: APPLICATION IMPLEMENTATION &amp;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Application Workflow &amp; Code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16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12080" cy="48463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59E0B"/>
                </a:solidFill>
              </a:defRPr>
            </a:pPr>
            <a:r>
              <a:t>PROJECT DIRECTORY TREE</a:t>
            </a:r>
          </a:p>
          <a:p>
            <a:pPr>
              <a:spcBef>
                <a:spcPts val="400"/>
              </a:spcBef>
              <a:defRPr sz="850">
                <a:solidFill>
                  <a:srgbClr val="FEF08A"/>
                </a:solidFill>
                <a:latin typeface="Consolas"/>
              </a:defRPr>
            </a:pPr>
            <a:r>
              <a:t>DBS DA/</a:t>
            </a:r>
            <a:br/>
            <a:r>
              <a:t>├── app.py                # Core Flask app (24 routes, RBAC, Cypher/SQL)</a:t>
            </a:r>
            <a:br/>
            <a:r>
              <a:t>├── seed_all_data.py      # Neo4j schema constraints &amp; sample data seed</a:t>
            </a:r>
            <a:br/>
            <a:r>
              <a:t>├── requirements.txt      # Python dependencies (Flask, Neo4j, WTForms)</a:t>
            </a:r>
            <a:br/>
            <a:r>
              <a:t>├── .env.example          # Database connection template</a:t>
            </a:r>
            <a:br/>
            <a:r>
              <a:t>├── .gitignore            # Clean Git exclusions</a:t>
            </a:r>
            <a:br/>
            <a:r>
              <a:t>├── README.md             # Comprehensive architecture documentation</a:t>
            </a:r>
            <a:br/>
            <a:r>
              <a:t>├── templates/            # 24 Jinja2 HTML5 Glassmorphism Views</a:t>
            </a:r>
            <a:br/>
            <a:r>
              <a:t>│   ├── base.html         # Sidebar, topbar, navigation &amp; CSRF token</a:t>
            </a:r>
            <a:br/>
            <a:r>
              <a:t>│   ├── dashboard.html    # Role-based dashboard (Admin/Staff/Student)</a:t>
            </a:r>
            <a:br/>
            <a:r>
              <a:t>│   ├── catalog.html      # Category directory with copy aggregations</a:t>
            </a:r>
            <a:br/>
            <a:r>
              <a:t>│   ├── issue_loan.html   # Physical loan creation desk</a:t>
            </a:r>
            <a:br/>
            <a:r>
              <a:t>│   ├── graph_visualizer  # Interactive Vis.js live knowledge graph</a:t>
            </a:r>
            <a:br/>
            <a:r>
              <a:t>│   ├── book_bridge.html  # Shortest path traversal explorer</a:t>
            </a:r>
            <a:br/>
            <a:r>
              <a:t>│   └── learning_paths    # Acyclic prerequisite roadmaps</a:t>
            </a:r>
            <a:br/>
            <a:r>
              <a:t>└── scratch/              # Verification suites (phase1..phase6, test runners)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42255" cy="4846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6B6D4"/>
                </a:solidFill>
              </a:defRPr>
            </a:pPr>
            <a:r>
              <a:t>HTTP REQUEST EXECUTION LIFECYCLE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F8FAFC"/>
                </a:solidFill>
              </a:rPr>
              <a:t>Step 1: Inbound HTTP Request
</a:t>
            </a:r>
            <a:r>
              <a:rPr sz="850">
                <a:solidFill>
                  <a:srgbClr val="94A3B8"/>
                </a:solidFill>
              </a:rPr>
              <a:t>Client browser triggers route (e.g. POST /issue_loan) with form payload and CSRF token.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F8FAFC"/>
                </a:solidFill>
              </a:rPr>
              <a:t>Step 2: Security &amp; Session Middleware
</a:t>
            </a:r>
            <a:r>
              <a:rPr sz="850">
                <a:solidFill>
                  <a:srgbClr val="94A3B8"/>
                </a:solidFill>
              </a:rPr>
              <a:t>Verifies active session in filesystem, validates 10-minute idle activity timestamp, and decrypts CSRF token.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F8FAFC"/>
                </a:solidFill>
              </a:rPr>
              <a:t>Step 3: Role-Based Authorization
</a:t>
            </a:r>
            <a:r>
              <a:rPr sz="850">
                <a:solidFill>
                  <a:srgbClr val="94A3B8"/>
                </a:solidFill>
              </a:rPr>
              <a:t>@role_required(['Admin', 'Librarian']) decorator checks user role; redirects unauthorized roles to 403 Access Denied.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F8FAFC"/>
                </a:solidFill>
              </a:rPr>
              <a:t>Step 4: Query Execution &amp; Business Logic
</a:t>
            </a:r>
            <a:r>
              <a:rPr sz="850">
                <a:solidFill>
                  <a:srgbClr val="94A3B8"/>
                </a:solidFill>
              </a:rPr>
              <a:t>Cypher query or PL/SQL procedure invoked via database driver session with parameterized injection protection.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F8FAFC"/>
                </a:solidFill>
              </a:rPr>
              <a:t>Step 5: Dynamic View Rendering
</a:t>
            </a:r>
            <a:r>
              <a:rPr sz="850">
                <a:solidFill>
                  <a:srgbClr val="94A3B8"/>
                </a:solidFill>
              </a:rPr>
              <a:t>Jinja2 compiles response template with DateWrapper objects and privacy-masked attributes.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F8FAFC"/>
                </a:solidFill>
              </a:rPr>
              <a:t>Step 6: Client DOM Update
</a:t>
            </a:r>
            <a:r>
              <a:rPr sz="850">
                <a:solidFill>
                  <a:srgbClr val="94A3B8"/>
                </a:solidFill>
              </a:rPr>
              <a:t>Rendered HTML/CSS returned with glassmorphic visuals and interactive Vis.js graph physics.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4: APPLICATION IMPLEMENTATION &amp;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Working Application Screenshots — Circulation &amp;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17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12080" cy="23774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public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502920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1188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1. Secure Multi-Role Login Portal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212080" cy="23774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3_admi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5920"/>
            <a:ext cx="5029200" cy="1920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361188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2. Admin Dashboard &amp; Active Circulation Ledgers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5212080" cy="23774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6_admin_issue_lo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06240"/>
            <a:ext cx="5029200" cy="19202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617220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3. Physical Book Loan Issuance Desk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114800"/>
            <a:ext cx="5212080" cy="23774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7_admin_loan_reques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206240"/>
            <a:ext cx="5029200" cy="1920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920" y="617220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4. Digital Loan Requests &amp; Copy Reservation Desk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4: APPLICATION IMPLEMENTATION &amp;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Working Application Screenshots — Graph &amp; AI Innovations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18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12080" cy="23774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1_admin_graph_visual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502920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1188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1. Live Knowledge Graph Explorer (/graph_visualizer)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212080" cy="23774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2_admin_book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5920"/>
            <a:ext cx="5029200" cy="1920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361188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2. Book Bridge Shortest Path Traversal (/book_bridge)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5212080" cy="23774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9_admin_learning_path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06240"/>
            <a:ext cx="5029200" cy="19202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617220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3. Academic Learning Roadmaps DAG (/learning_paths)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114800"/>
            <a:ext cx="5212080" cy="23774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0_admin_ai_recommenda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206240"/>
            <a:ext cx="5029200" cy="1920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920" y="617220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4. AI Collaborative Filtering Recommendations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4: APPLICATION IMPLEMENTATION &amp;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Role-Based Access Control &amp; Advanced Graph Innovations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19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12080" cy="4846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3B82F6"/>
                </a:solidFill>
              </a:defRPr>
            </a:pPr>
            <a:r>
              <a:t>ROLE-BASED ACCESS CONTROL (RBAC) MATRIX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06B6D4"/>
                </a:solidFill>
              </a:rPr>
              <a:t>ADMINISTRATOR
</a:t>
            </a:r>
            <a:r>
              <a:rPr sz="850">
                <a:solidFill>
                  <a:srgbClr val="94A3B8"/>
                </a:solidFill>
              </a:rPr>
              <a:t>Full authority: User provisioning, role assignment, account suspension, password reset, book catalog registration and book deletion. Complete audit visibility.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06B6D4"/>
                </a:solidFill>
              </a:rPr>
              <a:t>LIBRARIAN
</a:t>
            </a:r>
            <a:r>
              <a:rPr sz="850">
                <a:solidFill>
                  <a:srgbClr val="94A3B8"/>
                </a:solidFill>
              </a:rPr>
              <a:t>Circulation desk manager: Book loan creation, digital request approvals, copy reservations, check-in returns, and fine settlement. Cannot manage user accounts.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06B6D4"/>
                </a:solidFill>
              </a:rPr>
              <a:t>STAFF (FACULTY)
</a:t>
            </a:r>
            <a:r>
              <a:rPr sz="850">
                <a:solidFill>
                  <a:srgbClr val="94A3B8"/>
                </a:solidFill>
              </a:rPr>
              <a:t>Academic borrower: Search catalog, borrow up to 3 books, view academic prerequisite roadmaps, explore author degree centrality, and review fine ledgers.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06B6D4"/>
                </a:solidFill>
              </a:rPr>
              <a:t>STUDENT (PATRON)
</a:t>
            </a:r>
            <a:r>
              <a:rPr sz="850">
                <a:solidFill>
                  <a:srgbClr val="94A3B8"/>
                </a:solidFill>
              </a:rPr>
              <a:t>Academic patron: Search catalog, submit loan requests, view personalized AI recommendations, track prerequisite roadmaps, and monitor individual fines.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42255" cy="4846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0B981"/>
                </a:solidFill>
              </a:defRPr>
            </a:pPr>
            <a:r>
              <a:t>CUSTOM ARCHITECTURAL INNOVATIONS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1. Book-to-Book Bridge (Degrees of Separation)
</a:t>
            </a:r>
            <a:r>
              <a:rPr sz="850">
                <a:solidFill>
                  <a:srgbClr val="94A3B8"/>
                </a:solidFill>
              </a:rPr>
              <a:t>Uses Cypher shortestPath() algorithm to uncover multi-hop links between disparate titles via prerequisites, co-authors, and categories.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2. Academic Learning Roadmaps (Directed Acyclic Graphs)
</a:t>
            </a:r>
            <a:r>
              <a:rPr sz="850">
                <a:solidFill>
                  <a:srgbClr val="94A3B8"/>
                </a:solidFill>
              </a:rPr>
              <a:t>Hierarchical Vis.js network visualizer mapping foundational courses to advanced texts across CS, AI, and Distributed Systems.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3. Privacy-Preserving Patron Masking
</a:t>
            </a:r>
            <a:r>
              <a:rPr sz="850">
                <a:solidFill>
                  <a:srgbClr val="94A3B8"/>
                </a:solidFill>
              </a:rPr>
              <a:t>When Students or Staff browse the Live Knowledge Graph, other patrons' identities and borrow requests are anonymized in real time.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4. Author Degree Centrality &amp; Borrowing Density
</a:t>
            </a:r>
            <a:r>
              <a:rPr sz="850">
                <a:solidFill>
                  <a:srgbClr val="94A3B8"/>
                </a:solidFill>
              </a:rPr>
              <a:t>Computes influential scholars by loan volume and category closeness centrality to inform faculty acquisition budgets.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4: APPLICATION IMPLEMENTATION &amp;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Build, Setup &amp; Execution Instructions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20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0728655" cy="1097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109728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27632"/>
            <a:ext cx="1024128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Segoe UI"/>
              </a:defRPr>
            </a:pPr>
            <a:r>
              <a:t>STEP 1: CLONE &amp; VIRTUAL ENVIRONMENT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Consolas"/>
              </a:defRPr>
            </a:pPr>
            <a:r>
              <a:t>git clone https://github.com/Karthi16-png/LIBRARAY-MANAGEMENT-SYSTEM.git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cd "DBS DA"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Consolas"/>
              </a:defRPr>
            </a:pPr>
            <a:r>
              <a:t>python -m venv .venv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.venv\Scripts\activate  (Windows)  OR  source .venv/bin/activate  (macOS/Linux)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728655" cy="1097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788920"/>
            <a:ext cx="109728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862072"/>
            <a:ext cx="1024128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STEP 2: INSTALL DEPENDENCIES &amp; CONFIGURE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Consolas"/>
              </a:defRPr>
            </a:pPr>
            <a:r>
              <a:t>pip install -r requirements.txt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Configure Neo4j AuraDB credentials in .env or environment variables: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  NEO4J_URI=neo4j+s://&lt;instance&gt;.databases.neo4j.io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  NEO4J_USERNAME=neo4j  |  NEO4J_PASSWORD=&lt;password&gt;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10728655" cy="1097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023360"/>
            <a:ext cx="109728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96512"/>
            <a:ext cx="1024128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STEP 3: SEED GRAPH DATABASE (OPTIONAL / INITIAL)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Consolas"/>
              </a:defRPr>
            </a:pPr>
            <a:r>
              <a:t>python seed_all_data.py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-&gt; Establishes 12 schema uniqueness constraints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-&gt; Seeds 11 users across all 4 roles, 10 categories, 15+ books, copies, and prerequisite edges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57800"/>
            <a:ext cx="10728655" cy="1097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5257800"/>
            <a:ext cx="109728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330952"/>
            <a:ext cx="1024128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STEP 4: LAUNCH PORTAL &amp; RUN TEST SUITES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Consolas"/>
              </a:defRPr>
            </a:pPr>
            <a:r>
              <a:t>python app.py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-&gt; Access interactive portal at http://127.0.0.1:5000/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Execute complete 7-phase automated verification runner: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Consolas"/>
              </a:defRPr>
            </a:pPr>
            <a:r>
              <a:t>  python scratch/run_all_phases.py  (100% Passing)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SECTION 4: APPLICATION IMPLEMENTATION &amp;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GitHub Repository &amp; Project Key 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21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12080" cy="4846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3B82F6"/>
                </a:solidFill>
              </a:defRPr>
            </a:pPr>
            <a:r>
              <a:t>OPEN-SOURCE GITHUB REPOSITORY</a:t>
            </a:r>
          </a:p>
          <a:p>
            <a:pPr>
              <a:spcBef>
                <a:spcPts val="800"/>
              </a:spcBef>
              <a:defRPr sz="950">
                <a:solidFill>
                  <a:srgbClr val="06B6D4"/>
                </a:solidFill>
                <a:latin typeface="Consolas"/>
              </a:defRPr>
            </a:pPr>
            <a:r>
              <a:t>Repository URL:</a:t>
            </a:r>
            <a:br/>
            <a:r>
              <a:t>https://github.com/Karthi16-png/LIBRARAY-MANAGEMENT-SYSTEM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F8FAFC"/>
                </a:solidFill>
              </a:rPr>
              <a:t>Production Codebase
</a:t>
            </a:r>
            <a:r>
              <a:rPr sz="850">
                <a:solidFill>
                  <a:srgbClr val="94A3B8"/>
                </a:solidFill>
              </a:rPr>
              <a:t>Contains app.py (4,230 lines), seed scripts, 24 template views, and full verification test suites.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F8FAFC"/>
                </a:solidFill>
              </a:rPr>
              <a:t>Branching &amp; Hygiene
</a:t>
            </a:r>
            <a:r>
              <a:rPr sz="850">
                <a:solidFill>
                  <a:srgbClr val="94A3B8"/>
                </a:solidFill>
              </a:rPr>
              <a:t>Clean Git commit history on branch main with .gitignore preventing credential exposure and cache staging.</a:t>
            </a:r>
          </a:p>
          <a:p>
            <a:pPr>
              <a:spcBef>
                <a:spcPts val="800"/>
              </a:spcBef>
            </a:pPr>
            <a:r>
              <a:rPr b="1" sz="950">
                <a:solidFill>
                  <a:srgbClr val="F8FAFC"/>
                </a:solidFill>
              </a:rPr>
              <a:t>Documentation &amp; Dossier
</a:t>
            </a:r>
            <a:r>
              <a:rPr sz="850">
                <a:solidFill>
                  <a:srgbClr val="94A3B8"/>
                </a:solidFill>
              </a:rPr>
              <a:t>Includes detailed README.md setup instructions and the 211-page master forensic audit report PDF.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42255" cy="4846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0B981"/>
                </a:solidFill>
              </a:defRPr>
            </a:pPr>
            <a:r>
              <a:t>PROJECT OUTCOMES &amp; FUTURE ROADMAP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Dual-Database Mastery
</a:t>
            </a:r>
            <a:r>
              <a:rPr sz="850">
                <a:solidFill>
                  <a:srgbClr val="94A3B8"/>
                </a:solidFill>
              </a:rPr>
              <a:t>Gained deep architectural expertise in bridging transactional relational schemas (Oracle 21c) with connected graph stores (Neo4j AuraDB).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PL/SQL &amp; Constraint Automation
</a:t>
            </a:r>
            <a:r>
              <a:rPr sz="850">
                <a:solidFill>
                  <a:srgbClr val="94A3B8"/>
                </a:solidFill>
              </a:rPr>
              <a:t>Successfully replaced error-prone application validation with autonomous database triggers, procedures, and check constraints.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Enterprise RBAC Implementation
</a:t>
            </a:r>
            <a:r>
              <a:rPr sz="850">
                <a:solidFill>
                  <a:srgbClr val="94A3B8"/>
                </a:solidFill>
              </a:rPr>
              <a:t>Engineered strict multi-role permission separation with patron privacy masking and audit trail logging.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Future Roadmap 1: RFID Hardware Integration
</a:t>
            </a:r>
            <a:r>
              <a:rPr sz="850">
                <a:solidFill>
                  <a:srgbClr val="94A3B8"/>
                </a:solidFill>
              </a:rPr>
              <a:t>Deploy physical RFID return drop-boxes for automated instantaneous check-in without librarian intervention.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8FAFC"/>
                </a:solidFill>
              </a:rPr>
              <a:t>Future Roadmap 2: SMS &amp; Webhook Alerts
</a:t>
            </a:r>
            <a:r>
              <a:rPr sz="850">
                <a:solidFill>
                  <a:srgbClr val="94A3B8"/>
                </a:solidFill>
              </a:rPr>
              <a:t>Automated email and WhatsApp notifications for books nearing return deadlines to minimize disciplinary fines.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21A2D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8FAFC"/>
                </a:solidFill>
                <a:latin typeface="Segoe UI"/>
              </a:defRPr>
            </a:pPr>
            <a:r>
              <a:t>THANK YOU!</a:t>
            </a:r>
          </a:p>
          <a:p>
            <a:pPr algn="ctr">
              <a:spcBef>
                <a:spcPts val="800"/>
              </a:spcBef>
              <a:defRPr sz="1800" b="1">
                <a:solidFill>
                  <a:srgbClr val="06B6D4"/>
                </a:solidFill>
                <a:latin typeface="Segoe UI"/>
              </a:defRPr>
            </a:pPr>
            <a:r>
              <a:t>Questions &amp; Faculty Evaluation Discussion</a:t>
            </a:r>
          </a:p>
          <a:p>
            <a:pPr algn="ctr"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VITCC Enterprise Library Management System</a:t>
            </a:r>
            <a:br/>
            <a:r>
              <a:t>Dual Relational &amp; Graph Database Implementation</a:t>
            </a:r>
          </a:p>
          <a:p>
            <a:pPr algn="ctr">
              <a:spcBef>
                <a:spcPts val="1200"/>
              </a:spcBef>
              <a:defRPr sz="1200" b="1">
                <a:solidFill>
                  <a:srgbClr val="F59E0B"/>
                </a:solidFill>
              </a:defRPr>
            </a:pPr>
            <a:r>
              <a:t>Course: BACSE202 — Database Systems | Slot: F1+TF1</a:t>
            </a:r>
            <a:br/>
            <a:r>
              <a:t>Faculty Guide: Dr. R. Priyadarshini</a:t>
            </a:r>
          </a:p>
          <a:p>
            <a:pPr algn="ctr">
              <a:spcBef>
                <a:spcPts val="1400"/>
              </a:spcBef>
              <a:defRPr sz="1100">
                <a:solidFill>
                  <a:srgbClr val="F8FAFC"/>
                </a:solidFill>
              </a:defRPr>
            </a:pPr>
            <a:r>
              <a:t>Team Members: KARTHIK VALLIAPPAN C (25BAI1051) | NITHIN RANGASWAMY (25BAI1210) | NATRAJ (25BAI1079)</a:t>
            </a:r>
            <a:br/>
            <a:r>
              <a:t>School of Computer Science &amp; Engineering (SCOPE), VIT Chennai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